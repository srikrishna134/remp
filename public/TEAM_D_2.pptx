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755" r:id="rId2"/>
    <p:sldId id="756" r:id="rId3"/>
    <p:sldId id="757" r:id="rId4"/>
    <p:sldId id="758" r:id="rId5"/>
    <p:sldId id="759" r:id="rId6"/>
    <p:sldId id="760" r:id="rId7"/>
    <p:sldId id="766" r:id="rId8"/>
    <p:sldId id="767" r:id="rId9"/>
    <p:sldId id="761" r:id="rId10"/>
    <p:sldId id="768" r:id="rId11"/>
    <p:sldId id="762" r:id="rId12"/>
    <p:sldId id="763" r:id="rId13"/>
    <p:sldId id="764" r:id="rId14"/>
    <p:sldId id="7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 m terdal" userId="0a7e8d3117e646f7" providerId="LiveId" clId="{C559B642-1AE2-44E2-9EBC-D525B016CF3B}"/>
    <pc:docChg chg="modSld">
      <pc:chgData name="karthik m terdal" userId="0a7e8d3117e646f7" providerId="LiveId" clId="{C559B642-1AE2-44E2-9EBC-D525B016CF3B}" dt="2025-11-25T17:34:29.897" v="13" actId="20577"/>
      <pc:docMkLst>
        <pc:docMk/>
      </pc:docMkLst>
      <pc:sldChg chg="modSp mod">
        <pc:chgData name="karthik m terdal" userId="0a7e8d3117e646f7" providerId="LiveId" clId="{C559B642-1AE2-44E2-9EBC-D525B016CF3B}" dt="2025-11-25T17:34:29.897" v="13" actId="20577"/>
        <pc:sldMkLst>
          <pc:docMk/>
          <pc:sldMk cId="2076441903" sldId="755"/>
        </pc:sldMkLst>
        <pc:spChg chg="mod">
          <ac:chgData name="karthik m terdal" userId="0a7e8d3117e646f7" providerId="LiveId" clId="{C559B642-1AE2-44E2-9EBC-D525B016CF3B}" dt="2025-11-25T17:34:29.897" v="13" actId="20577"/>
          <ac:spMkLst>
            <pc:docMk/>
            <pc:sldMk cId="2076441903" sldId="755"/>
            <ac:spMk id="3" creationId="{6732BE61-D986-A78B-6197-F9DAF6B7016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872FB4-E045-45BA-942C-030093373CE8}" type="datetimeFigureOut">
              <a:rPr lang="en-IN" smtClean="0"/>
              <a:t>25-11-2025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3BCCE8-C8FE-4F68-B26B-0052CDAB1F6A}" type="slidenum">
              <a:rPr lang="en-IN" smtClean="0"/>
              <a:t>‹#›</a:t>
            </a:fld>
            <a:endParaRPr lang="en-IN"/>
          </a:p>
        </p:txBody>
      </p:sp>
    </p:spTree>
    <p:extLst>
      <p:ext uri="{BB962C8B-B14F-4D97-AF65-F5344CB8AC3E}">
        <p14:creationId xmlns:p14="http://schemas.microsoft.com/office/powerpoint/2010/main" val="3291993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6B8-666A-1214-831A-64D2BC358F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80A75A-C660-11C0-5287-F62F049F4C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778486-5E77-0555-E003-35C1E61A9025}"/>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5" name="Footer Placeholder 4">
            <a:extLst>
              <a:ext uri="{FF2B5EF4-FFF2-40B4-BE49-F238E27FC236}">
                <a16:creationId xmlns:a16="http://schemas.microsoft.com/office/drawing/2014/main" id="{869BA512-6D26-D8DC-8EF0-E5CE132436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51B3F8-0802-24B2-25A6-13A46BCECD72}"/>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931134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CC46-5FF7-8ACA-E795-3F7091D1CC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F6E2F2-D778-6A71-5DB6-9906055DD3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23F2CE-6AD5-BBD7-6CFD-F06E2E45FDD3}"/>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5" name="Footer Placeholder 4">
            <a:extLst>
              <a:ext uri="{FF2B5EF4-FFF2-40B4-BE49-F238E27FC236}">
                <a16:creationId xmlns:a16="http://schemas.microsoft.com/office/drawing/2014/main" id="{416D29FF-9E33-F809-3F78-39325E11BB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BD56C7-3FE3-CD16-E771-86DE78149A80}"/>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944213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3970C-FE01-6E0A-E224-4C2DBE828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DE73DC-7321-58C2-ADB4-55BC97FCC5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9407EF-EE02-4C94-5197-6950B912BD77}"/>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5" name="Footer Placeholder 4">
            <a:extLst>
              <a:ext uri="{FF2B5EF4-FFF2-40B4-BE49-F238E27FC236}">
                <a16:creationId xmlns:a16="http://schemas.microsoft.com/office/drawing/2014/main" id="{DDD1B9DB-10E1-B9E0-F55F-EE938B5694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9894B6-88D1-8911-CD40-A14F33AF6AD4}"/>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2246345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728C-12A3-6678-EC14-77FC69609C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8753FD-DC44-0AEC-39DA-A2B45C85D2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B414CE-4B02-178B-68CD-A7AA04133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BE03FE-5626-8729-7882-18D40CFF8F6C}"/>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6" name="Footer Placeholder 5">
            <a:extLst>
              <a:ext uri="{FF2B5EF4-FFF2-40B4-BE49-F238E27FC236}">
                <a16:creationId xmlns:a16="http://schemas.microsoft.com/office/drawing/2014/main" id="{8A196E46-B53B-C957-4394-0D32EAC0CF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EE6B2F-23BD-DCC2-AEE9-B5C76DFC50B4}"/>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139286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7ABB9-35BC-819B-6D4C-102E493D2AA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D54CE2-47FA-8294-2CF7-3F6407EB21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ADB8B0-70B4-57DF-913A-D484372C9C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A8534E-F024-8A23-BA76-F4D2E489AD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016DEA-4237-76BF-8D13-42ED5C1F9D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601CA1-BD70-36E0-815B-BD67E821F9EC}"/>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8" name="Footer Placeholder 7">
            <a:extLst>
              <a:ext uri="{FF2B5EF4-FFF2-40B4-BE49-F238E27FC236}">
                <a16:creationId xmlns:a16="http://schemas.microsoft.com/office/drawing/2014/main" id="{1A62CFCA-AD4D-C591-4E09-7312714B17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BC4AAF-C752-C646-4E1A-6ACE1F36D2E5}"/>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2549359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2BB7-7A83-E372-4CD5-CFFB181109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6687D47-D56D-5414-AE04-5749B98A0C21}"/>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4" name="Footer Placeholder 3">
            <a:extLst>
              <a:ext uri="{FF2B5EF4-FFF2-40B4-BE49-F238E27FC236}">
                <a16:creationId xmlns:a16="http://schemas.microsoft.com/office/drawing/2014/main" id="{337DA1FB-5FB3-8E07-C43E-85DCE2FCFD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3B820-A902-E56B-0BDE-3CC38BBA561D}"/>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542868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230773-3EFD-F8F8-E7B2-FF2162E95DEF}"/>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3" name="Footer Placeholder 2">
            <a:extLst>
              <a:ext uri="{FF2B5EF4-FFF2-40B4-BE49-F238E27FC236}">
                <a16:creationId xmlns:a16="http://schemas.microsoft.com/office/drawing/2014/main" id="{C4ED0D44-4889-BD67-FB34-4ACD817F5B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7013C2B-D7B6-0018-0CFC-00F66449876F}"/>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4200663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1EE3-D147-E849-9477-4D8741F67E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D0B467-1AF9-FBD8-BFD5-C14263F517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1E5ED4-DB65-7AF7-2C77-FADD2CEDA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C5E35-5E49-458C-0FB8-0E4B61AB1CD4}"/>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6" name="Footer Placeholder 5">
            <a:extLst>
              <a:ext uri="{FF2B5EF4-FFF2-40B4-BE49-F238E27FC236}">
                <a16:creationId xmlns:a16="http://schemas.microsoft.com/office/drawing/2014/main" id="{7B186F9E-02D1-F1CE-C393-5F6A977D5F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9DA186-0A83-D159-4DD5-9DC98291A958}"/>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2273060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E7CDD-0DD4-7836-9CC3-EB085A8B60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CDE9A9-DDC3-F3C7-D183-22A3A129E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FBD4AC-25D8-0327-31C3-7B1CD8BD3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8599D0-C5E0-9B34-41A2-C16A6E46B374}"/>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6" name="Footer Placeholder 5">
            <a:extLst>
              <a:ext uri="{FF2B5EF4-FFF2-40B4-BE49-F238E27FC236}">
                <a16:creationId xmlns:a16="http://schemas.microsoft.com/office/drawing/2014/main" id="{977D9908-B448-6734-FE5A-DE503F4D65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35F65B-B5A2-85D0-44D2-1F7843F3C1FF}"/>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1119349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53B3B-FF33-30BE-974A-9CFD8C3ADC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875EB7-16C4-6894-7DE1-13792E85F8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2EA503-071C-C647-6364-1A7BC73E7915}"/>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5" name="Footer Placeholder 4">
            <a:extLst>
              <a:ext uri="{FF2B5EF4-FFF2-40B4-BE49-F238E27FC236}">
                <a16:creationId xmlns:a16="http://schemas.microsoft.com/office/drawing/2014/main" id="{32295893-CF43-1918-DEE9-25F6F944C0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ACE876-8261-D1CA-74F8-3FB5F7A147FA}"/>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1962689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A0CBDF-3F6E-2134-C03F-F340E2BB95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E3B54F-BA05-0816-2380-E336B16249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D08295-5BD5-4086-5A21-31E212AD1FC9}"/>
              </a:ext>
            </a:extLst>
          </p:cNvPr>
          <p:cNvSpPr>
            <a:spLocks noGrp="1"/>
          </p:cNvSpPr>
          <p:nvPr>
            <p:ph type="dt" sz="half" idx="10"/>
          </p:nvPr>
        </p:nvSpPr>
        <p:spPr/>
        <p:txBody>
          <a:bodyPr/>
          <a:lstStyle/>
          <a:p>
            <a:fld id="{F3765B47-CEE5-455E-8D58-D541FCBA3B8A}" type="datetimeFigureOut">
              <a:rPr lang="en-IN" smtClean="0"/>
              <a:t>25-11-2025</a:t>
            </a:fld>
            <a:endParaRPr lang="en-IN"/>
          </a:p>
        </p:txBody>
      </p:sp>
      <p:sp>
        <p:nvSpPr>
          <p:cNvPr id="5" name="Footer Placeholder 4">
            <a:extLst>
              <a:ext uri="{FF2B5EF4-FFF2-40B4-BE49-F238E27FC236}">
                <a16:creationId xmlns:a16="http://schemas.microsoft.com/office/drawing/2014/main" id="{CC325826-C777-E8C9-9545-A6FD2C751A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BCF383-67DB-BC64-B2D5-F5BA4FC88AB3}"/>
              </a:ext>
            </a:extLst>
          </p:cNvPr>
          <p:cNvSpPr>
            <a:spLocks noGrp="1"/>
          </p:cNvSpPr>
          <p:nvPr>
            <p:ph type="sldNum" sz="quarter" idx="12"/>
          </p:nvPr>
        </p:nvSpPr>
        <p:spPr/>
        <p:txBody>
          <a:bodyPr/>
          <a:lstStyle/>
          <a:p>
            <a:fld id="{9A1B94EA-4F7A-459F-87C9-F6172E160398}" type="slidenum">
              <a:rPr lang="en-IN" smtClean="0"/>
              <a:t>‹#›</a:t>
            </a:fld>
            <a:endParaRPr lang="en-IN"/>
          </a:p>
        </p:txBody>
      </p:sp>
    </p:spTree>
    <p:extLst>
      <p:ext uri="{BB962C8B-B14F-4D97-AF65-F5344CB8AC3E}">
        <p14:creationId xmlns:p14="http://schemas.microsoft.com/office/powerpoint/2010/main" val="4048061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D1447C-673A-A89D-4658-BA9B8D39CE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3794AD-7D7A-CE92-55E5-517F0DFF58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2A2EF2-676E-B535-6C1D-5BB5E74F7A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765B47-CEE5-455E-8D58-D541FCBA3B8A}" type="datetimeFigureOut">
              <a:rPr lang="en-IN" smtClean="0"/>
              <a:t>25-11-2025</a:t>
            </a:fld>
            <a:endParaRPr lang="en-IN"/>
          </a:p>
        </p:txBody>
      </p:sp>
      <p:sp>
        <p:nvSpPr>
          <p:cNvPr id="5" name="Footer Placeholder 4">
            <a:extLst>
              <a:ext uri="{FF2B5EF4-FFF2-40B4-BE49-F238E27FC236}">
                <a16:creationId xmlns:a16="http://schemas.microsoft.com/office/drawing/2014/main" id="{FD9CC6DD-1127-BFCB-350A-9293BE0BA8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5311F5-4628-CF6E-53F6-550D2071E8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1B94EA-4F7A-459F-87C9-F6172E160398}" type="slidenum">
              <a:rPr lang="en-IN" smtClean="0"/>
              <a:t>‹#›</a:t>
            </a:fld>
            <a:endParaRPr lang="en-IN"/>
          </a:p>
        </p:txBody>
      </p:sp>
    </p:spTree>
    <p:extLst>
      <p:ext uri="{BB962C8B-B14F-4D97-AF65-F5344CB8AC3E}">
        <p14:creationId xmlns:p14="http://schemas.microsoft.com/office/powerpoint/2010/main" val="16420909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A9F05-4543-F5AC-8126-8A95C0B8E9F2}"/>
              </a:ext>
            </a:extLst>
          </p:cNvPr>
          <p:cNvSpPr>
            <a:spLocks noGrp="1"/>
          </p:cNvSpPr>
          <p:nvPr>
            <p:ph type="title"/>
          </p:nvPr>
        </p:nvSpPr>
        <p:spPr/>
        <p:txBody>
          <a:bodyPr/>
          <a:lstStyle/>
          <a:p>
            <a:r>
              <a:rPr lang="en-US" b="1" dirty="0"/>
              <a:t>Mini Project </a:t>
            </a:r>
            <a:endParaRPr lang="en-IN" b="1" dirty="0"/>
          </a:p>
        </p:txBody>
      </p:sp>
      <p:sp>
        <p:nvSpPr>
          <p:cNvPr id="3" name="Content Placeholder 2">
            <a:extLst>
              <a:ext uri="{FF2B5EF4-FFF2-40B4-BE49-F238E27FC236}">
                <a16:creationId xmlns:a16="http://schemas.microsoft.com/office/drawing/2014/main" id="{6732BE61-D986-A78B-6197-F9DAF6B70163}"/>
              </a:ext>
            </a:extLst>
          </p:cNvPr>
          <p:cNvSpPr>
            <a:spLocks noGrp="1"/>
          </p:cNvSpPr>
          <p:nvPr>
            <p:ph idx="1"/>
          </p:nvPr>
        </p:nvSpPr>
        <p:spPr/>
        <p:txBody>
          <a:bodyPr/>
          <a:lstStyle/>
          <a:p>
            <a:pPr marL="0" indent="0">
              <a:buNone/>
            </a:pPr>
            <a:r>
              <a:rPr lang="en-US" dirty="0"/>
              <a:t>Team -02</a:t>
            </a:r>
          </a:p>
          <a:p>
            <a:pPr marL="0" indent="0">
              <a:buNone/>
            </a:pPr>
            <a:r>
              <a:rPr lang="en-US" dirty="0"/>
              <a:t>Srikrishna </a:t>
            </a:r>
            <a:r>
              <a:rPr lang="en-US" dirty="0" err="1"/>
              <a:t>Hireholi</a:t>
            </a:r>
            <a:r>
              <a:rPr lang="en-US" dirty="0"/>
              <a:t>    	459 		01fe23bec224</a:t>
            </a:r>
          </a:p>
          <a:p>
            <a:pPr marL="0" indent="0">
              <a:buNone/>
            </a:pPr>
            <a:r>
              <a:rPr lang="en-US" dirty="0"/>
              <a:t>Karthik Terdal 		413		 01fe23bec174</a:t>
            </a:r>
          </a:p>
          <a:p>
            <a:pPr marL="0" indent="0">
              <a:buNone/>
            </a:pPr>
            <a:r>
              <a:rPr lang="en-US" dirty="0"/>
              <a:t>Swaroop Swamy		457		 01fe23bec222</a:t>
            </a:r>
          </a:p>
          <a:p>
            <a:pPr marL="0" indent="0">
              <a:buNone/>
            </a:pPr>
            <a:r>
              <a:rPr lang="en-US" dirty="0"/>
              <a:t>Mahantesh </a:t>
            </a:r>
            <a:r>
              <a:rPr lang="en-US" dirty="0" err="1"/>
              <a:t>Imagoudar</a:t>
            </a:r>
            <a:r>
              <a:rPr lang="en-US" dirty="0"/>
              <a:t> 	406		 01fe23bec166</a:t>
            </a:r>
          </a:p>
          <a:p>
            <a:pPr marL="0" indent="0">
              <a:buNone/>
            </a:pPr>
            <a:endParaRPr lang="en-US" dirty="0"/>
          </a:p>
          <a:p>
            <a:pPr marL="0" indent="0">
              <a:buNone/>
            </a:pPr>
            <a:endParaRPr lang="en-US" dirty="0"/>
          </a:p>
          <a:p>
            <a:pPr marL="0" indent="0">
              <a:buNone/>
            </a:pPr>
            <a:r>
              <a:rPr lang="en-US" dirty="0"/>
              <a:t>Guide </a:t>
            </a:r>
            <a:r>
              <a:rPr lang="en-US"/>
              <a:t>:Ujwala Patil</a:t>
            </a:r>
            <a:endParaRPr lang="en-US" dirty="0"/>
          </a:p>
        </p:txBody>
      </p:sp>
      <p:pic>
        <p:nvPicPr>
          <p:cNvPr id="6" name="Picture 5">
            <a:extLst>
              <a:ext uri="{FF2B5EF4-FFF2-40B4-BE49-F238E27FC236}">
                <a16:creationId xmlns:a16="http://schemas.microsoft.com/office/drawing/2014/main" id="{5429F5C6-9F24-1E7D-0543-33C7D6646A2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Tree>
    <p:extLst>
      <p:ext uri="{BB962C8B-B14F-4D97-AF65-F5344CB8AC3E}">
        <p14:creationId xmlns:p14="http://schemas.microsoft.com/office/powerpoint/2010/main" val="2076441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8BA1-C812-3E1D-F0A3-F9B64FF8F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6041B-12B3-6A1A-61C9-DC1228BF516E}"/>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42E1F3EC-8568-B0D7-A4F1-0984B65B7228}"/>
              </a:ext>
            </a:extLst>
          </p:cNvPr>
          <p:cNvSpPr>
            <a:spLocks noGrp="1"/>
          </p:cNvSpPr>
          <p:nvPr>
            <p:ph idx="1"/>
          </p:nvPr>
        </p:nvSpPr>
        <p:spPr/>
        <p:txBody>
          <a:bodyPr/>
          <a:lstStyle/>
          <a:p>
            <a:pPr marL="0" indent="0">
              <a:buNone/>
            </a:pPr>
            <a:r>
              <a:rPr lang="en-US" dirty="0"/>
              <a:t>A mini audio amplifier is a compact electronic circuit designed to increase the strength of low-level audio signals so they can drive speakers with sufficient volume. It is commonly used in portable and battery-powered devices where space and power consumption are limited. By boosting weak audio inputs, the amplifier ensures clear and audible sound reproduction. Mini audio amplifiers often use low-power integrated circuits and require only a few external components, making them easy to build and highly efficient. Because of their simplicity and versatility, they are widely used in DIY audio projects, small gadgets, and educational electronics applications.</a:t>
            </a:r>
            <a:endParaRPr lang="en-IN" dirty="0"/>
          </a:p>
        </p:txBody>
      </p:sp>
      <p:pic>
        <p:nvPicPr>
          <p:cNvPr id="4" name="Picture 3">
            <a:extLst>
              <a:ext uri="{FF2B5EF4-FFF2-40B4-BE49-F238E27FC236}">
                <a16:creationId xmlns:a16="http://schemas.microsoft.com/office/drawing/2014/main" id="{D1955B60-5BE7-87C0-D867-0C3F813FB0A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85345"/>
            <a:ext cx="3218355" cy="582889"/>
          </a:xfrm>
          <a:prstGeom prst="rect">
            <a:avLst/>
          </a:prstGeom>
        </p:spPr>
      </p:pic>
    </p:spTree>
    <p:extLst>
      <p:ext uri="{BB962C8B-B14F-4D97-AF65-F5344CB8AC3E}">
        <p14:creationId xmlns:p14="http://schemas.microsoft.com/office/powerpoint/2010/main" val="2870972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765BF-268E-E930-6107-4BB5C3708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6D01B-32D8-8355-1089-2E54C84B85BD}"/>
              </a:ext>
            </a:extLst>
          </p:cNvPr>
          <p:cNvSpPr>
            <a:spLocks noGrp="1"/>
          </p:cNvSpPr>
          <p:nvPr>
            <p:ph type="title"/>
          </p:nvPr>
        </p:nvSpPr>
        <p:spPr/>
        <p:txBody>
          <a:bodyPr/>
          <a:lstStyle/>
          <a:p>
            <a:r>
              <a:rPr lang="en-US" b="1" dirty="0"/>
              <a:t>Literature Survey</a:t>
            </a:r>
            <a:endParaRPr lang="en-IN" b="1" dirty="0"/>
          </a:p>
        </p:txBody>
      </p:sp>
      <p:pic>
        <p:nvPicPr>
          <p:cNvPr id="4" name="Picture 3">
            <a:extLst>
              <a:ext uri="{FF2B5EF4-FFF2-40B4-BE49-F238E27FC236}">
                <a16:creationId xmlns:a16="http://schemas.microsoft.com/office/drawing/2014/main" id="{8092E148-974E-B89E-141F-DC27A1C0593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
        <p:nvSpPr>
          <p:cNvPr id="9" name="Rectangle 5">
            <a:extLst>
              <a:ext uri="{FF2B5EF4-FFF2-40B4-BE49-F238E27FC236}">
                <a16:creationId xmlns:a16="http://schemas.microsoft.com/office/drawing/2014/main" id="{BACC59EF-CA65-276D-ADD5-07E96776BAF9}"/>
              </a:ext>
            </a:extLst>
          </p:cNvPr>
          <p:cNvSpPr>
            <a:spLocks noGrp="1" noChangeArrowheads="1"/>
          </p:cNvSpPr>
          <p:nvPr>
            <p:ph idx="1"/>
          </p:nvPr>
        </p:nvSpPr>
        <p:spPr bwMode="auto">
          <a:xfrm>
            <a:off x="254259" y="1979612"/>
            <a:ext cx="1168348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Research shows that mini audio amplifiers are essential for boosting low-level analog signals to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speaker-drivable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is frequently referenced in academic papers as a preferred IC for low-power audio amplification.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literature highlights its ability to operate from 4V–12V, making it suitable for portable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Studies show that LM386 provides stable output even with minimal external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Researchers emphasize using input coupling capacitors to block DC offset and protect speakers.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Many audio engineering papers compare LM386 performance with op-amp-based amplifiers for distortion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Literature documents the importance of bypass (decoupling) capacitors to reduce unwanted oscillations.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Several designs include variable resistors for volume control and gain adjustment using external RC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circuits appear in technical journals focusing on basic analog electronics and embedded audio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Research indicates that LM386 is ideal for low-cost system design and educational hands-on learning.</a:t>
            </a:r>
          </a:p>
        </p:txBody>
      </p:sp>
    </p:spTree>
    <p:extLst>
      <p:ext uri="{BB962C8B-B14F-4D97-AF65-F5344CB8AC3E}">
        <p14:creationId xmlns:p14="http://schemas.microsoft.com/office/powerpoint/2010/main" val="447421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8FC29-7492-6BB8-963A-5144461C8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AB5BA-5ACA-8695-1416-DCF0C65D3819}"/>
              </a:ext>
            </a:extLst>
          </p:cNvPr>
          <p:cNvSpPr>
            <a:spLocks noGrp="1"/>
          </p:cNvSpPr>
          <p:nvPr>
            <p:ph type="title"/>
          </p:nvPr>
        </p:nvSpPr>
        <p:spPr/>
        <p:txBody>
          <a:bodyPr/>
          <a:lstStyle/>
          <a:p>
            <a:r>
              <a:rPr lang="en-US" b="1" dirty="0"/>
              <a:t>Market Survey</a:t>
            </a:r>
            <a:endParaRPr lang="en-IN" b="1" dirty="0"/>
          </a:p>
        </p:txBody>
      </p:sp>
      <p:pic>
        <p:nvPicPr>
          <p:cNvPr id="4" name="Picture 3">
            <a:extLst>
              <a:ext uri="{FF2B5EF4-FFF2-40B4-BE49-F238E27FC236}">
                <a16:creationId xmlns:a16="http://schemas.microsoft.com/office/drawing/2014/main" id="{45F6D92D-AFC5-5CCC-0783-AAF896B1C71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
        <p:nvSpPr>
          <p:cNvPr id="5" name="Rectangle 1">
            <a:extLst>
              <a:ext uri="{FF2B5EF4-FFF2-40B4-BE49-F238E27FC236}">
                <a16:creationId xmlns:a16="http://schemas.microsoft.com/office/drawing/2014/main" id="{2F8B05EC-1D2B-4822-DCF4-8FB9CF4E6CB4}"/>
              </a:ext>
            </a:extLst>
          </p:cNvPr>
          <p:cNvSpPr>
            <a:spLocks noGrp="1" noChangeArrowheads="1"/>
          </p:cNvSpPr>
          <p:nvPr>
            <p:ph idx="1"/>
          </p:nvPr>
        </p:nvSpPr>
        <p:spPr bwMode="auto">
          <a:xfrm>
            <a:off x="189722" y="1803339"/>
            <a:ext cx="1181255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Mini audio amplifiers are widely demanded in portable speakers, intercoms, buzzers,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Arduino projects, and radios.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LM386-based kits are popular in engineering colleges as beginner-level analog lab projects.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IC is available from major brands like Texas Instruments, ON Semiconductor, and various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low-cost manufacturers.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Electronic marketplaces offer LM386 modules for ₹80–₹300 depending on PCB quality and added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Consumers prefer LM386 amplifiers because they work well even with simple 9V batteries.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Competing products include PAM8403, TDA series, and MAX audio amp chips, which offer higher wattage.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modules are commonly bundled with DIY audio bundles, robotics kits, and breadboard training kits.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Local electronics stores consistently stock LM386 due to high demand and stable supply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market shows continuous usage in hobby circuits even though advanced digital amplifiers are trending.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Small manufacturers prefer LM386 because it reduces design complexity and lowers production costs.</a:t>
            </a:r>
          </a:p>
        </p:txBody>
      </p:sp>
    </p:spTree>
    <p:extLst>
      <p:ext uri="{BB962C8B-B14F-4D97-AF65-F5344CB8AC3E}">
        <p14:creationId xmlns:p14="http://schemas.microsoft.com/office/powerpoint/2010/main" val="2487287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69909-77FE-F187-FF8C-0E98FCFFE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697D8-7FD4-875E-AF36-1DC4D3BC0475}"/>
              </a:ext>
            </a:extLst>
          </p:cNvPr>
          <p:cNvSpPr>
            <a:spLocks noGrp="1"/>
          </p:cNvSpPr>
          <p:nvPr>
            <p:ph type="title"/>
          </p:nvPr>
        </p:nvSpPr>
        <p:spPr/>
        <p:txBody>
          <a:bodyPr/>
          <a:lstStyle/>
          <a:p>
            <a:r>
              <a:rPr lang="en-US" b="1" dirty="0"/>
              <a:t>Requirement Analysis</a:t>
            </a:r>
            <a:endParaRPr lang="en-IN" b="1" dirty="0"/>
          </a:p>
        </p:txBody>
      </p:sp>
      <p:pic>
        <p:nvPicPr>
          <p:cNvPr id="4" name="Picture 3">
            <a:extLst>
              <a:ext uri="{FF2B5EF4-FFF2-40B4-BE49-F238E27FC236}">
                <a16:creationId xmlns:a16="http://schemas.microsoft.com/office/drawing/2014/main" id="{75359405-78DA-27BF-7E72-E0CB00706F6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
        <p:nvSpPr>
          <p:cNvPr id="5" name="Rectangle 1">
            <a:extLst>
              <a:ext uri="{FF2B5EF4-FFF2-40B4-BE49-F238E27FC236}">
                <a16:creationId xmlns:a16="http://schemas.microsoft.com/office/drawing/2014/main" id="{234CF049-10F1-AE5C-9986-434947040967}"/>
              </a:ext>
            </a:extLst>
          </p:cNvPr>
          <p:cNvSpPr>
            <a:spLocks noGrp="1" noChangeArrowheads="1"/>
          </p:cNvSpPr>
          <p:nvPr>
            <p:ph idx="1"/>
          </p:nvPr>
        </p:nvSpPr>
        <p:spPr bwMode="auto">
          <a:xfrm>
            <a:off x="838200" y="2416244"/>
            <a:ext cx="873829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Requires a low-level audio input source such as mobile, mic, or audio jack.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Needs a stable DC supply between </a:t>
            </a:r>
            <a:r>
              <a:rPr kumimoji="0" lang="en-US" altLang="en-US" sz="2000" b="1" i="0" u="none" strike="noStrike" cap="none" normalizeH="0" baseline="0" dirty="0">
                <a:ln>
                  <a:noFill/>
                </a:ln>
                <a:solidFill>
                  <a:schemeClr val="tx1"/>
                </a:solidFill>
                <a:effectLst/>
                <a:latin typeface="Arial" panose="020B0604020202020204" pitchFamily="34" charset="0"/>
              </a:rPr>
              <a:t>4V–12V</a:t>
            </a:r>
            <a:r>
              <a:rPr kumimoji="0" lang="en-US" altLang="en-US" sz="2000" b="0" i="0" u="none" strike="noStrike" cap="none" normalizeH="0" baseline="0" dirty="0">
                <a:ln>
                  <a:noFill/>
                </a:ln>
                <a:solidFill>
                  <a:schemeClr val="tx1"/>
                </a:solidFill>
                <a:effectLst/>
                <a:latin typeface="Arial" panose="020B0604020202020204" pitchFamily="34" charset="0"/>
              </a:rPr>
              <a:t> for proper LM386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Requires an </a:t>
            </a:r>
            <a:r>
              <a:rPr kumimoji="0" lang="en-US" altLang="en-US" sz="2000" b="1" i="0" u="none" strike="noStrike" cap="none" normalizeH="0" baseline="0" dirty="0">
                <a:ln>
                  <a:noFill/>
                </a:ln>
                <a:solidFill>
                  <a:schemeClr val="tx1"/>
                </a:solidFill>
                <a:effectLst/>
                <a:latin typeface="Arial" panose="020B0604020202020204" pitchFamily="34" charset="0"/>
              </a:rPr>
              <a:t>8Ω or 4Ω speaker</a:t>
            </a:r>
            <a:r>
              <a:rPr kumimoji="0" lang="en-US" altLang="en-US" sz="2000" b="0" i="0" u="none" strike="noStrike" cap="none" normalizeH="0" baseline="0" dirty="0">
                <a:ln>
                  <a:noFill/>
                </a:ln>
                <a:solidFill>
                  <a:schemeClr val="tx1"/>
                </a:solidFill>
                <a:effectLst/>
                <a:latin typeface="Arial" panose="020B0604020202020204" pitchFamily="34" charset="0"/>
              </a:rPr>
              <a:t> to produce audible sound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Needs input coupling capacitor to block DC from the audio source.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Requires output capacitor to protect the speaker from DC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Needs decoupling capacitor to reduce noise and prevent oscillations.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Requires proper grounding to ensure stable audio amplification.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Needs a potentiometer for adjusting input volume or gain.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Requires gain-setting components to control amplification level.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Needs correct polarity and safe wiring to avoid component damage.</a:t>
            </a:r>
          </a:p>
        </p:txBody>
      </p:sp>
    </p:spTree>
    <p:extLst>
      <p:ext uri="{BB962C8B-B14F-4D97-AF65-F5344CB8AC3E}">
        <p14:creationId xmlns:p14="http://schemas.microsoft.com/office/powerpoint/2010/main" val="1309145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47DB1-5AFB-C837-96D4-BBACC450F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60088-4B77-E7AD-5255-AA714B4A96AD}"/>
              </a:ext>
            </a:extLst>
          </p:cNvPr>
          <p:cNvSpPr>
            <a:spLocks noGrp="1"/>
          </p:cNvSpPr>
          <p:nvPr>
            <p:ph type="title"/>
          </p:nvPr>
        </p:nvSpPr>
        <p:spPr/>
        <p:txBody>
          <a:bodyPr/>
          <a:lstStyle/>
          <a:p>
            <a:r>
              <a:rPr lang="en-US" b="1" dirty="0"/>
              <a:t>Variants with Components</a:t>
            </a:r>
            <a:endParaRPr lang="en-IN" b="1" dirty="0"/>
          </a:p>
        </p:txBody>
      </p:sp>
      <p:pic>
        <p:nvPicPr>
          <p:cNvPr id="4" name="Picture 3">
            <a:extLst>
              <a:ext uri="{FF2B5EF4-FFF2-40B4-BE49-F238E27FC236}">
                <a16:creationId xmlns:a16="http://schemas.microsoft.com/office/drawing/2014/main" id="{65E022ED-DC8C-701D-2A03-0B23A964EC4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
        <p:nvSpPr>
          <p:cNvPr id="6" name="Rectangle 2">
            <a:extLst>
              <a:ext uri="{FF2B5EF4-FFF2-40B4-BE49-F238E27FC236}">
                <a16:creationId xmlns:a16="http://schemas.microsoft.com/office/drawing/2014/main" id="{1FD7D387-48AF-FDBE-8DC4-E3D4FD47D978}"/>
              </a:ext>
            </a:extLst>
          </p:cNvPr>
          <p:cNvSpPr>
            <a:spLocks noGrp="1" noChangeArrowheads="1"/>
          </p:cNvSpPr>
          <p:nvPr>
            <p:ph idx="1"/>
          </p:nvPr>
        </p:nvSpPr>
        <p:spPr bwMode="auto">
          <a:xfrm>
            <a:off x="838200" y="1800767"/>
            <a:ext cx="1004315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Basic LM386 amplifier with fixed gain 20 for simple low-power audio boosting.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High-gain LM386 variant with gain up to 200 using a capacitor between pins 1 and 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amplifier with volume control using a 10k–100k potentiometer at the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amplifier with tone control using RC filters for bass and treble adjustment.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Bass-boost LM386 variant using a low-frequency enhancement RC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Dual-stage LM386 amplifier providing higher output power and louder audio.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amplifier with a transistor or op-amp preamp for microphone sensitivity 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variant with bass-cut filter for clearer voice-focused amplification.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LM386 amplifier with power filtering and polarity protection for stable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Stereo LM386 variant using two ICs to drive left and right channels independently.</a:t>
            </a:r>
          </a:p>
        </p:txBody>
      </p:sp>
    </p:spTree>
    <p:extLst>
      <p:ext uri="{BB962C8B-B14F-4D97-AF65-F5344CB8AC3E}">
        <p14:creationId xmlns:p14="http://schemas.microsoft.com/office/powerpoint/2010/main" val="237653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1597-2B4F-E92A-7F7C-35B24F77D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CBF4E-E5D9-4F12-C2B2-D7D46B09423F}"/>
              </a:ext>
            </a:extLst>
          </p:cNvPr>
          <p:cNvSpPr>
            <a:spLocks noGrp="1"/>
          </p:cNvSpPr>
          <p:nvPr>
            <p:ph type="title"/>
          </p:nvPr>
        </p:nvSpPr>
        <p:spPr/>
        <p:txBody>
          <a:bodyPr/>
          <a:lstStyle/>
          <a:p>
            <a:r>
              <a:rPr lang="en-US" b="1" dirty="0"/>
              <a:t>Block Diagram</a:t>
            </a:r>
            <a:endParaRPr lang="en-IN" b="1" dirty="0"/>
          </a:p>
        </p:txBody>
      </p:sp>
      <p:sp>
        <p:nvSpPr>
          <p:cNvPr id="3" name="Content Placeholder 2">
            <a:extLst>
              <a:ext uri="{FF2B5EF4-FFF2-40B4-BE49-F238E27FC236}">
                <a16:creationId xmlns:a16="http://schemas.microsoft.com/office/drawing/2014/main" id="{9F64D575-2386-3311-6FA5-190694784BF8}"/>
              </a:ext>
            </a:extLst>
          </p:cNvPr>
          <p:cNvSpPr>
            <a:spLocks noGrp="1"/>
          </p:cNvSpPr>
          <p:nvPr>
            <p:ph idx="1"/>
          </p:nvPr>
        </p:nvSpPr>
        <p:spPr/>
        <p:txBody>
          <a:bodyPr>
            <a:normAutofit/>
          </a:bodyPr>
          <a:lstStyle/>
          <a:p>
            <a:pPr lvl="8"/>
            <a:r>
              <a:rPr lang="en-US" sz="4000" dirty="0"/>
              <a:t>                      Block Diagram</a:t>
            </a:r>
            <a:endParaRPr lang="en-IN" sz="4000" dirty="0"/>
          </a:p>
        </p:txBody>
      </p:sp>
      <p:pic>
        <p:nvPicPr>
          <p:cNvPr id="4" name="Picture 3">
            <a:extLst>
              <a:ext uri="{FF2B5EF4-FFF2-40B4-BE49-F238E27FC236}">
                <a16:creationId xmlns:a16="http://schemas.microsoft.com/office/drawing/2014/main" id="{B2BBE1E8-FD35-2B1C-EEBB-A87A664EC6A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pic>
        <p:nvPicPr>
          <p:cNvPr id="5" name="Picture 4">
            <a:extLst>
              <a:ext uri="{FF2B5EF4-FFF2-40B4-BE49-F238E27FC236}">
                <a16:creationId xmlns:a16="http://schemas.microsoft.com/office/drawing/2014/main" id="{11972B11-E452-DA6F-DA98-B8ECF1297330}"/>
              </a:ext>
            </a:extLst>
          </p:cNvPr>
          <p:cNvPicPr>
            <a:picLocks noChangeAspect="1"/>
          </p:cNvPicPr>
          <p:nvPr/>
        </p:nvPicPr>
        <p:blipFill>
          <a:blip r:embed="rId3"/>
          <a:stretch>
            <a:fillRect/>
          </a:stretch>
        </p:blipFill>
        <p:spPr>
          <a:xfrm>
            <a:off x="966468" y="76202"/>
            <a:ext cx="5503448" cy="6699502"/>
          </a:xfrm>
          <a:prstGeom prst="rect">
            <a:avLst/>
          </a:prstGeom>
        </p:spPr>
      </p:pic>
    </p:spTree>
    <p:extLst>
      <p:ext uri="{BB962C8B-B14F-4D97-AF65-F5344CB8AC3E}">
        <p14:creationId xmlns:p14="http://schemas.microsoft.com/office/powerpoint/2010/main" val="4155722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4647-8044-4F38-5B96-CA1493152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AA184-CC87-132B-EED4-F6EA6D112BED}"/>
              </a:ext>
            </a:extLst>
          </p:cNvPr>
          <p:cNvSpPr>
            <a:spLocks noGrp="1"/>
          </p:cNvSpPr>
          <p:nvPr>
            <p:ph type="title"/>
          </p:nvPr>
        </p:nvSpPr>
        <p:spPr/>
        <p:txBody>
          <a:bodyPr/>
          <a:lstStyle/>
          <a:p>
            <a:r>
              <a:rPr lang="en-US" b="1" dirty="0"/>
              <a:t>List Of Components Required</a:t>
            </a:r>
            <a:endParaRPr lang="en-IN" b="1" dirty="0"/>
          </a:p>
        </p:txBody>
      </p:sp>
      <p:pic>
        <p:nvPicPr>
          <p:cNvPr id="4" name="Picture 3">
            <a:extLst>
              <a:ext uri="{FF2B5EF4-FFF2-40B4-BE49-F238E27FC236}">
                <a16:creationId xmlns:a16="http://schemas.microsoft.com/office/drawing/2014/main" id="{C774585A-439D-46E3-C6AD-4E5B73CBCC4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
        <p:nvSpPr>
          <p:cNvPr id="5" name="Rectangle 1">
            <a:extLst>
              <a:ext uri="{FF2B5EF4-FFF2-40B4-BE49-F238E27FC236}">
                <a16:creationId xmlns:a16="http://schemas.microsoft.com/office/drawing/2014/main" id="{256F59E9-196D-DF7A-CA39-758A1BB8E3C3}"/>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LM386 Audio Amplifier IC</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Electrolytic Capacitor 10µF</a:t>
            </a:r>
            <a:r>
              <a:rPr kumimoji="0" lang="en-US" altLang="en-US" sz="1800" b="0" i="0" u="none" strike="noStrike" cap="none" normalizeH="0" baseline="0">
                <a:ln>
                  <a:noFill/>
                </a:ln>
                <a:solidFill>
                  <a:schemeClr val="tx1"/>
                </a:solidFill>
                <a:effectLst/>
                <a:latin typeface="Arial" panose="020B0604020202020204" pitchFamily="34" charset="0"/>
              </a:rPr>
              <a:t> (for gain control between pin 1 &amp; 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Electrolytic Capacitor 100µF</a:t>
            </a:r>
            <a:r>
              <a:rPr kumimoji="0" lang="en-US" altLang="en-US" sz="1800" b="0" i="0" u="none" strike="noStrike" cap="none" normalizeH="0" baseline="0">
                <a:ln>
                  <a:noFill/>
                </a:ln>
                <a:solidFill>
                  <a:schemeClr val="tx1"/>
                </a:solidFill>
                <a:effectLst/>
                <a:latin typeface="Arial" panose="020B0604020202020204" pitchFamily="34" charset="0"/>
              </a:rPr>
              <a:t> (output coupling capacitor)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Electrolytic Capacitor 220µF / 470µF</a:t>
            </a:r>
            <a:r>
              <a:rPr kumimoji="0" lang="en-US" altLang="en-US" sz="1800" b="0" i="0" u="none" strike="noStrike" cap="none" normalizeH="0" baseline="0">
                <a:ln>
                  <a:noFill/>
                </a:ln>
                <a:solidFill>
                  <a:schemeClr val="tx1"/>
                </a:solidFill>
                <a:effectLst/>
                <a:latin typeface="Arial" panose="020B0604020202020204" pitchFamily="34" charset="0"/>
              </a:rPr>
              <a:t> (power supply filter capacitor)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Ceramic Capacitor 0.047µF / 0.05µF</a:t>
            </a:r>
            <a:r>
              <a:rPr kumimoji="0" lang="en-US" altLang="en-US" sz="1800" b="0" i="0" u="none" strike="noStrike" cap="none" normalizeH="0" baseline="0">
                <a:ln>
                  <a:noFill/>
                </a:ln>
                <a:solidFill>
                  <a:schemeClr val="tx1"/>
                </a:solidFill>
                <a:effectLst/>
                <a:latin typeface="Arial" panose="020B0604020202020204" pitchFamily="34" charset="0"/>
              </a:rPr>
              <a:t> (noise decoupling capacitor)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Ceramic Capacitor 0.1µF</a:t>
            </a:r>
            <a:r>
              <a:rPr kumimoji="0" lang="en-US" altLang="en-US" sz="1800" b="0" i="0" u="none" strike="noStrike" cap="none" normalizeH="0" baseline="0">
                <a:ln>
                  <a:noFill/>
                </a:ln>
                <a:solidFill>
                  <a:schemeClr val="tx1"/>
                </a:solidFill>
                <a:effectLst/>
                <a:latin typeface="Arial" panose="020B0604020202020204" pitchFamily="34" charset="0"/>
              </a:rPr>
              <a:t> (input filtering/decoupling)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Resistor 10Ω</a:t>
            </a:r>
            <a:r>
              <a:rPr kumimoji="0" lang="en-US" altLang="en-US" sz="1800" b="0" i="0" u="none" strike="noStrike" cap="none" normalizeH="0" baseline="0">
                <a:ln>
                  <a:noFill/>
                </a:ln>
                <a:solidFill>
                  <a:schemeClr val="tx1"/>
                </a:solidFill>
                <a:effectLst/>
                <a:latin typeface="Arial" panose="020B0604020202020204" pitchFamily="34" charset="0"/>
              </a:rPr>
              <a:t> (output RC network for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Speaker 8Ω / 4Ω</a:t>
            </a:r>
            <a:r>
              <a:rPr kumimoji="0" lang="en-US" altLang="en-US" sz="1800" b="0" i="0" u="none" strike="noStrike" cap="none" normalizeH="0" baseline="0">
                <a:ln>
                  <a:noFill/>
                </a:ln>
                <a:solidFill>
                  <a:schemeClr val="tx1"/>
                </a:solidFill>
                <a:effectLst/>
                <a:latin typeface="Arial" panose="020B0604020202020204" pitchFamily="34" charset="0"/>
              </a:rPr>
              <a:t> (audio output 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Audio Input Jack (3.5 mm)</a:t>
            </a:r>
            <a:r>
              <a:rPr kumimoji="0" lang="en-US" altLang="en-US" sz="1800" b="0" i="0" u="none" strike="noStrike" cap="none" normalizeH="0" baseline="0">
                <a:ln>
                  <a:noFill/>
                </a:ln>
                <a:solidFill>
                  <a:schemeClr val="tx1"/>
                </a:solidFill>
                <a:effectLst/>
                <a:latin typeface="Arial" panose="020B0604020202020204" pitchFamily="34" charset="0"/>
              </a:rPr>
              <a:t> or </a:t>
            </a:r>
            <a:r>
              <a:rPr kumimoji="0" lang="en-US" altLang="en-US" sz="1800" b="1" i="0" u="none" strike="noStrike" cap="none" normalizeH="0" baseline="0">
                <a:ln>
                  <a:noFill/>
                </a:ln>
                <a:solidFill>
                  <a:schemeClr val="tx1"/>
                </a:solidFill>
                <a:effectLst/>
                <a:latin typeface="Arial" panose="020B0604020202020204" pitchFamily="34" charset="0"/>
              </a:rPr>
              <a:t>signal input wires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Potentiometer 10k / 20k</a:t>
            </a:r>
            <a:r>
              <a:rPr kumimoji="0" lang="en-US" altLang="en-US" sz="1800" b="0" i="0" u="none" strike="noStrike" cap="none" normalizeH="0" baseline="0">
                <a:ln>
                  <a:noFill/>
                </a:ln>
                <a:solidFill>
                  <a:schemeClr val="tx1"/>
                </a:solidFill>
                <a:effectLst/>
                <a:latin typeface="Arial" panose="020B0604020202020204" pitchFamily="34" charset="0"/>
              </a:rPr>
              <a:t> (volume control – optional)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9V Battery / DC Supply (5–12V)</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Connecting wires / PCB / Breadboard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2984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FC83-CCFE-4208-5553-6A702CFF7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D0A60-DAAC-6F59-1CD8-D3375E1A6ABE}"/>
              </a:ext>
            </a:extLst>
          </p:cNvPr>
          <p:cNvSpPr>
            <a:spLocks noGrp="1"/>
          </p:cNvSpPr>
          <p:nvPr>
            <p:ph type="title"/>
          </p:nvPr>
        </p:nvSpPr>
        <p:spPr/>
        <p:txBody>
          <a:bodyPr/>
          <a:lstStyle/>
          <a:p>
            <a:r>
              <a:rPr lang="en-US" b="1" dirty="0"/>
              <a:t>Simulations</a:t>
            </a:r>
            <a:endParaRPr lang="en-IN" b="1" dirty="0"/>
          </a:p>
        </p:txBody>
      </p:sp>
      <p:pic>
        <p:nvPicPr>
          <p:cNvPr id="6" name="Content Placeholder 5">
            <a:extLst>
              <a:ext uri="{FF2B5EF4-FFF2-40B4-BE49-F238E27FC236}">
                <a16:creationId xmlns:a16="http://schemas.microsoft.com/office/drawing/2014/main" id="{69A9633D-BA07-4046-BDAC-5B949ED310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1680" y="1403823"/>
            <a:ext cx="8165591" cy="5193004"/>
          </a:xfrm>
        </p:spPr>
      </p:pic>
      <p:pic>
        <p:nvPicPr>
          <p:cNvPr id="4" name="Picture 3">
            <a:extLst>
              <a:ext uri="{FF2B5EF4-FFF2-40B4-BE49-F238E27FC236}">
                <a16:creationId xmlns:a16="http://schemas.microsoft.com/office/drawing/2014/main" id="{81962C95-7038-9B5D-3AF2-5B8462909BE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Tree>
    <p:extLst>
      <p:ext uri="{BB962C8B-B14F-4D97-AF65-F5344CB8AC3E}">
        <p14:creationId xmlns:p14="http://schemas.microsoft.com/office/powerpoint/2010/main" val="3496553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0DCED-DA9D-D3CF-5EDD-885E1088EB0E}"/>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9E2F0BA-421E-80F6-E95B-4705A78439BC}"/>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44087DBE-58A7-B1B8-1CBC-79D5A4998859}"/>
              </a:ext>
            </a:extLst>
          </p:cNvPr>
          <p:cNvPicPr>
            <a:picLocks noChangeAspect="1"/>
          </p:cNvPicPr>
          <p:nvPr/>
        </p:nvPicPr>
        <p:blipFill>
          <a:blip r:embed="rId2"/>
          <a:stretch>
            <a:fillRect/>
          </a:stretch>
        </p:blipFill>
        <p:spPr>
          <a:xfrm>
            <a:off x="214188" y="896112"/>
            <a:ext cx="11780160" cy="4839525"/>
          </a:xfrm>
          <a:prstGeom prst="rect">
            <a:avLst/>
          </a:prstGeom>
        </p:spPr>
      </p:pic>
      <p:pic>
        <p:nvPicPr>
          <p:cNvPr id="6" name="Picture 5">
            <a:extLst>
              <a:ext uri="{FF2B5EF4-FFF2-40B4-BE49-F238E27FC236}">
                <a16:creationId xmlns:a16="http://schemas.microsoft.com/office/drawing/2014/main" id="{7500D7C1-344C-C741-25C0-DF911C9B032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Tree>
    <p:extLst>
      <p:ext uri="{BB962C8B-B14F-4D97-AF65-F5344CB8AC3E}">
        <p14:creationId xmlns:p14="http://schemas.microsoft.com/office/powerpoint/2010/main" val="660517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C7CBC-BA93-D9FE-ADEC-CA3114107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B79ED-5AE7-49F6-7C4F-3C826C082D5D}"/>
              </a:ext>
            </a:extLst>
          </p:cNvPr>
          <p:cNvSpPr>
            <a:spLocks noGrp="1"/>
          </p:cNvSpPr>
          <p:nvPr>
            <p:ph type="title"/>
          </p:nvPr>
        </p:nvSpPr>
        <p:spPr/>
        <p:txBody>
          <a:bodyPr/>
          <a:lstStyle/>
          <a:p>
            <a:r>
              <a:rPr lang="en-US" b="1" dirty="0"/>
              <a:t>Reflection Questions</a:t>
            </a:r>
            <a:endParaRPr lang="en-IN" b="1" dirty="0"/>
          </a:p>
        </p:txBody>
      </p:sp>
      <p:sp>
        <p:nvSpPr>
          <p:cNvPr id="3" name="Content Placeholder 2">
            <a:extLst>
              <a:ext uri="{FF2B5EF4-FFF2-40B4-BE49-F238E27FC236}">
                <a16:creationId xmlns:a16="http://schemas.microsoft.com/office/drawing/2014/main" id="{96FED7C3-3D72-A9B4-6891-95D93D41B5C4}"/>
              </a:ext>
            </a:extLst>
          </p:cNvPr>
          <p:cNvSpPr>
            <a:spLocks noGrp="1"/>
          </p:cNvSpPr>
          <p:nvPr>
            <p:ph idx="1"/>
          </p:nvPr>
        </p:nvSpPr>
        <p:spPr/>
        <p:txBody>
          <a:bodyPr>
            <a:normAutofit fontScale="32500" lnSpcReduction="20000"/>
          </a:bodyPr>
          <a:lstStyle/>
          <a:p>
            <a:r>
              <a:rPr lang="en-US" sz="4800" b="1" dirty="0"/>
              <a:t>1. What is the difference between voltage amplification and power amplification in a mini audio amplifier?</a:t>
            </a:r>
          </a:p>
          <a:p>
            <a:r>
              <a:rPr lang="en-US" sz="4800" b="1" dirty="0"/>
              <a:t>Answer:</a:t>
            </a:r>
            <a:br>
              <a:rPr lang="en-US" sz="4800" dirty="0"/>
            </a:br>
            <a:r>
              <a:rPr lang="en-US" sz="4800" dirty="0"/>
              <a:t>Voltage amplification increases the small input audio signal level, while power amplification provides enough current to drive the 8Ω speaker in the LM386 circuit.</a:t>
            </a:r>
          </a:p>
          <a:p>
            <a:r>
              <a:rPr lang="en-US" sz="4800" b="1" dirty="0"/>
              <a:t>2. Why do we use a coupling capacitor at the input of a mini amplifier?</a:t>
            </a:r>
          </a:p>
          <a:p>
            <a:r>
              <a:rPr lang="en-US" sz="4800" b="1" dirty="0"/>
              <a:t>Answer:</a:t>
            </a:r>
            <a:br>
              <a:rPr lang="en-US" sz="4800" dirty="0"/>
            </a:br>
            <a:r>
              <a:rPr lang="en-US" sz="4800" dirty="0"/>
              <a:t>The coupling capacitor removes DC components from the input and allows only AC audio to enter the LM386, preventing distortion and protecting the IC.</a:t>
            </a:r>
          </a:p>
          <a:p>
            <a:r>
              <a:rPr lang="en-US" sz="4800" b="1" dirty="0"/>
              <a:t>3. What is the meaning of gain, and how is it set using components in LM386?</a:t>
            </a:r>
          </a:p>
          <a:p>
            <a:r>
              <a:rPr lang="en-US" sz="4800" b="1" dirty="0"/>
              <a:t>Answer:</a:t>
            </a:r>
            <a:br>
              <a:rPr lang="en-US" sz="4800" dirty="0"/>
            </a:br>
            <a:r>
              <a:rPr lang="en-US" sz="4800" dirty="0"/>
              <a:t>Gain is the ratio of output signal to input signal, and in LM386 it is set by placing a 10µF capacitor between pins 1 and 8 to increase gain up to 200.</a:t>
            </a:r>
          </a:p>
          <a:p>
            <a:r>
              <a:rPr lang="en-US" sz="4800" b="1" dirty="0"/>
              <a:t>4. Why is biasing required in an amplifier stage?</a:t>
            </a:r>
          </a:p>
          <a:p>
            <a:r>
              <a:rPr lang="en-US" sz="4800" b="1" dirty="0"/>
              <a:t>Answer:</a:t>
            </a:r>
            <a:br>
              <a:rPr lang="en-US" sz="4800" dirty="0"/>
            </a:br>
            <a:r>
              <a:rPr lang="en-US" sz="4800" dirty="0"/>
              <a:t>Biasing sets the LM386 input at mid-supply voltage so the AC audio can swing positively and negatively without clipping.</a:t>
            </a:r>
          </a:p>
          <a:p>
            <a:r>
              <a:rPr lang="en-US" sz="4800" b="1" dirty="0"/>
              <a:t>5. What happens when the amplifier’s gain is set too high?</a:t>
            </a:r>
          </a:p>
          <a:p>
            <a:r>
              <a:rPr lang="en-US" sz="4800" b="1" dirty="0"/>
              <a:t>Answer:</a:t>
            </a:r>
            <a:br>
              <a:rPr lang="en-US" sz="4800" dirty="0"/>
            </a:br>
            <a:r>
              <a:rPr lang="en-US" sz="4800" dirty="0"/>
              <a:t>Excessive gain causes noise, distortion, and oscillation, especially in high-gain LM386 configurations.</a:t>
            </a:r>
          </a:p>
          <a:p>
            <a:pPr marL="0" indent="0">
              <a:buNone/>
            </a:pPr>
            <a:endParaRPr lang="en-IN" dirty="0"/>
          </a:p>
        </p:txBody>
      </p:sp>
      <p:pic>
        <p:nvPicPr>
          <p:cNvPr id="4" name="Picture 3">
            <a:extLst>
              <a:ext uri="{FF2B5EF4-FFF2-40B4-BE49-F238E27FC236}">
                <a16:creationId xmlns:a16="http://schemas.microsoft.com/office/drawing/2014/main" id="{6D223A83-035E-8E7D-DD21-03285619A7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Tree>
    <p:extLst>
      <p:ext uri="{BB962C8B-B14F-4D97-AF65-F5344CB8AC3E}">
        <p14:creationId xmlns:p14="http://schemas.microsoft.com/office/powerpoint/2010/main" val="1376991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486D7-2456-33B8-BA19-26E6F716C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BBD77-5823-52E1-54FE-D6EC28B499F0}"/>
              </a:ext>
            </a:extLst>
          </p:cNvPr>
          <p:cNvSpPr>
            <a:spLocks noGrp="1"/>
          </p:cNvSpPr>
          <p:nvPr>
            <p:ph type="title"/>
          </p:nvPr>
        </p:nvSpPr>
        <p:spPr>
          <a:xfrm flipV="1">
            <a:off x="838200" y="0"/>
            <a:ext cx="10515600" cy="36512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F1BE78E3-CF9C-660C-B743-C71C9C51C179}"/>
              </a:ext>
            </a:extLst>
          </p:cNvPr>
          <p:cNvSpPr>
            <a:spLocks noGrp="1"/>
          </p:cNvSpPr>
          <p:nvPr>
            <p:ph idx="1"/>
          </p:nvPr>
        </p:nvSpPr>
        <p:spPr>
          <a:xfrm>
            <a:off x="838200" y="256032"/>
            <a:ext cx="10515600" cy="5920931"/>
          </a:xfrm>
        </p:spPr>
        <p:txBody>
          <a:bodyPr>
            <a:normAutofit fontScale="77500" lnSpcReduction="20000"/>
          </a:bodyPr>
          <a:lstStyle/>
          <a:p>
            <a:r>
              <a:rPr lang="en-US" b="1" dirty="0"/>
              <a:t>6. What is clipping, and why does it occur?</a:t>
            </a:r>
          </a:p>
          <a:p>
            <a:r>
              <a:rPr lang="en-US" b="1" dirty="0"/>
              <a:t>Answer:</a:t>
            </a:r>
            <a:br>
              <a:rPr lang="en-US" dirty="0"/>
            </a:br>
            <a:r>
              <a:rPr lang="en-US" dirty="0"/>
              <a:t>Clipping occurs when the LM386 output attempts to exceed the supply voltage limits (e.g., ±4.5V on 9V supply), flattening the waveform.</a:t>
            </a:r>
          </a:p>
          <a:p>
            <a:r>
              <a:rPr lang="en-US" b="1" dirty="0"/>
              <a:t>7. What is the purpose of the output capacitor in the LM386 circuit?</a:t>
            </a:r>
          </a:p>
          <a:p>
            <a:r>
              <a:rPr lang="en-US" b="1" dirty="0"/>
              <a:t>Answer:</a:t>
            </a:r>
            <a:br>
              <a:rPr lang="en-US" dirty="0"/>
            </a:br>
            <a:r>
              <a:rPr lang="en-US" dirty="0"/>
              <a:t>The output capacitor blocks DC and allows only the amplified AC signal to reach the speaker, preventing speaker damage.</a:t>
            </a:r>
          </a:p>
          <a:p>
            <a:r>
              <a:rPr lang="en-US" b="1" dirty="0"/>
              <a:t>8. Why must audio signals be AC?</a:t>
            </a:r>
          </a:p>
          <a:p>
            <a:r>
              <a:rPr lang="en-US" b="1" dirty="0"/>
              <a:t>Answer:</a:t>
            </a:r>
            <a:br>
              <a:rPr lang="en-US" dirty="0"/>
            </a:br>
            <a:r>
              <a:rPr lang="en-US" dirty="0"/>
              <a:t>Audio signals represent sound vibrations, which naturally alternate above and below zero, requiring AC to reproduce them correctly.</a:t>
            </a:r>
          </a:p>
          <a:p>
            <a:r>
              <a:rPr lang="en-US" b="1" dirty="0"/>
              <a:t>9. How does speaker impedance affect the LM386 output?</a:t>
            </a:r>
          </a:p>
          <a:p>
            <a:r>
              <a:rPr lang="en-US" b="1" dirty="0"/>
              <a:t>Answer:</a:t>
            </a:r>
            <a:br>
              <a:rPr lang="en-US" dirty="0"/>
            </a:br>
            <a:r>
              <a:rPr lang="en-US" dirty="0"/>
              <a:t>Lower speaker impedance draws more current, causing LM386 heating or distortion, while higher impedance reduces loudness.</a:t>
            </a:r>
          </a:p>
          <a:p>
            <a:r>
              <a:rPr lang="en-US" b="1" dirty="0"/>
              <a:t>10. Why is a heat sink sometimes needed in mini amplifiers?</a:t>
            </a:r>
          </a:p>
          <a:p>
            <a:r>
              <a:rPr lang="en-US" b="1" dirty="0"/>
              <a:t>Answer:</a:t>
            </a:r>
            <a:br>
              <a:rPr lang="en-US" dirty="0"/>
            </a:br>
            <a:r>
              <a:rPr lang="en-US" dirty="0"/>
              <a:t>A heat sink prevents overheating when LM386 drives a 4Ω or 8Ω speaker at high volume.</a:t>
            </a:r>
          </a:p>
          <a:p>
            <a:endParaRPr lang="en-IN" dirty="0"/>
          </a:p>
        </p:txBody>
      </p:sp>
      <p:pic>
        <p:nvPicPr>
          <p:cNvPr id="4" name="Picture 3">
            <a:extLst>
              <a:ext uri="{FF2B5EF4-FFF2-40B4-BE49-F238E27FC236}">
                <a16:creationId xmlns:a16="http://schemas.microsoft.com/office/drawing/2014/main" id="{365B5070-06D5-8D96-F3F8-A39614A2129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Tree>
    <p:extLst>
      <p:ext uri="{BB962C8B-B14F-4D97-AF65-F5344CB8AC3E}">
        <p14:creationId xmlns:p14="http://schemas.microsoft.com/office/powerpoint/2010/main" val="1092053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0D50-67A0-2D66-FCBA-8EAC7F224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8456E8-3E75-38B7-1B28-9A06F9F1AFF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D40EEB4-3132-EB33-F9DC-9569A338C8AC}"/>
              </a:ext>
            </a:extLst>
          </p:cNvPr>
          <p:cNvSpPr>
            <a:spLocks noGrp="1"/>
          </p:cNvSpPr>
          <p:nvPr>
            <p:ph idx="1"/>
          </p:nvPr>
        </p:nvSpPr>
        <p:spPr>
          <a:xfrm>
            <a:off x="838200" y="228600"/>
            <a:ext cx="10515600" cy="5948363"/>
          </a:xfrm>
        </p:spPr>
        <p:txBody>
          <a:bodyPr>
            <a:normAutofit fontScale="62500" lnSpcReduction="20000"/>
          </a:bodyPr>
          <a:lstStyle/>
          <a:p>
            <a:r>
              <a:rPr lang="en-US" b="1" dirty="0"/>
              <a:t>11. What decides the input coupling capacitor value?</a:t>
            </a:r>
          </a:p>
          <a:p>
            <a:r>
              <a:rPr lang="en-US" b="1" dirty="0"/>
              <a:t>Answer:</a:t>
            </a:r>
            <a:br>
              <a:rPr lang="en-US" dirty="0"/>
            </a:br>
            <a:r>
              <a:rPr lang="en-US" dirty="0"/>
              <a:t>Its value sets the bass response; larger capacitor → better low-frequency reproduction in the LM386.</a:t>
            </a:r>
          </a:p>
          <a:p>
            <a:r>
              <a:rPr lang="en-US" b="1" dirty="0"/>
              <a:t>12. How does supply voltage affect maximum output power?</a:t>
            </a:r>
          </a:p>
          <a:p>
            <a:r>
              <a:rPr lang="en-US" b="1" dirty="0"/>
              <a:t>Answer:</a:t>
            </a:r>
            <a:br>
              <a:rPr lang="en-US" dirty="0"/>
            </a:br>
            <a:r>
              <a:rPr lang="en-US" dirty="0"/>
              <a:t>Higher supply voltage increases LM386 output swing and lets it deliver more power to the speaker.</a:t>
            </a:r>
          </a:p>
          <a:p>
            <a:r>
              <a:rPr lang="en-US" b="1" dirty="0"/>
              <a:t>13. Why is a bypass capacitor required at the LM386 supply pin?</a:t>
            </a:r>
          </a:p>
          <a:p>
            <a:r>
              <a:rPr lang="en-US" b="1" dirty="0"/>
              <a:t>Answer:</a:t>
            </a:r>
            <a:br>
              <a:rPr lang="en-US" dirty="0"/>
            </a:br>
            <a:r>
              <a:rPr lang="en-US" dirty="0"/>
              <a:t>It stabilizes the power line, filters noise, and prevents oscillation or hum.</a:t>
            </a:r>
          </a:p>
          <a:p>
            <a:r>
              <a:rPr lang="en-US" b="1" dirty="0"/>
              <a:t>14. What role does the RC network play in gain?</a:t>
            </a:r>
          </a:p>
          <a:p>
            <a:r>
              <a:rPr lang="en-US" b="1" dirty="0"/>
              <a:t>Answer:</a:t>
            </a:r>
            <a:br>
              <a:rPr lang="en-US" dirty="0"/>
            </a:br>
            <a:r>
              <a:rPr lang="en-US" dirty="0"/>
              <a:t>In LM386, the RC capacitor between pins 1 and 8 sets gain by controlling internal amplifier feedback.</a:t>
            </a:r>
          </a:p>
          <a:p>
            <a:r>
              <a:rPr lang="en-US" b="1" dirty="0"/>
              <a:t>15. How do RC filters remove noise?</a:t>
            </a:r>
          </a:p>
          <a:p>
            <a:r>
              <a:rPr lang="en-US" b="1" dirty="0"/>
              <a:t>Answer:</a:t>
            </a:r>
            <a:br>
              <a:rPr lang="en-US" dirty="0"/>
            </a:br>
            <a:r>
              <a:rPr lang="en-US" dirty="0"/>
              <a:t>They attenuate high-frequency noise and deliver a cleaner audio signal to the speaker.</a:t>
            </a:r>
          </a:p>
          <a:p>
            <a:r>
              <a:rPr lang="en-US" b="1" dirty="0"/>
              <a:t>16. What happens if speaker impedance is lower than rated?</a:t>
            </a:r>
          </a:p>
          <a:p>
            <a:r>
              <a:rPr lang="en-US" b="1" dirty="0"/>
              <a:t>Answer:</a:t>
            </a:r>
            <a:br>
              <a:rPr lang="en-US" dirty="0"/>
            </a:br>
            <a:r>
              <a:rPr lang="en-US" dirty="0"/>
              <a:t>LM386 is forced to deliver high current, causing heat and distortion.</a:t>
            </a:r>
          </a:p>
          <a:p>
            <a:r>
              <a:rPr lang="en-US" b="1" dirty="0"/>
              <a:t>17. How does grounding affect LM386 noise?</a:t>
            </a:r>
          </a:p>
          <a:p>
            <a:r>
              <a:rPr lang="en-US" b="1" dirty="0"/>
              <a:t>Answer:</a:t>
            </a:r>
            <a:br>
              <a:rPr lang="en-US" dirty="0"/>
            </a:br>
            <a:r>
              <a:rPr lang="en-US" dirty="0"/>
              <a:t>Poor grounding creates hum, loops, and interference; proper grounding keeps the amplifier quiet.</a:t>
            </a:r>
          </a:p>
          <a:p>
            <a:endParaRPr lang="en-US" dirty="0"/>
          </a:p>
          <a:p>
            <a:endParaRPr lang="en-IN" dirty="0"/>
          </a:p>
        </p:txBody>
      </p:sp>
      <p:pic>
        <p:nvPicPr>
          <p:cNvPr id="4" name="Picture 3">
            <a:extLst>
              <a:ext uri="{FF2B5EF4-FFF2-40B4-BE49-F238E27FC236}">
                <a16:creationId xmlns:a16="http://schemas.microsoft.com/office/drawing/2014/main" id="{6EE4B795-D586-D317-CDB2-96422F854AC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5763" r="38198" b="64454"/>
          <a:stretch/>
        </p:blipFill>
        <p:spPr>
          <a:xfrm>
            <a:off x="8567975" y="76201"/>
            <a:ext cx="3218355" cy="582889"/>
          </a:xfrm>
          <a:prstGeom prst="rect">
            <a:avLst/>
          </a:prstGeom>
        </p:spPr>
      </p:pic>
    </p:spTree>
    <p:extLst>
      <p:ext uri="{BB962C8B-B14F-4D97-AF65-F5344CB8AC3E}">
        <p14:creationId xmlns:p14="http://schemas.microsoft.com/office/powerpoint/2010/main" val="2946444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2F7D-16C9-40C7-8AAC-F20D76A68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E756E-7E28-47D2-1738-09675BC76EA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6397E09-756E-1F77-2326-8BD86ACA5AB5}"/>
              </a:ext>
            </a:extLst>
          </p:cNvPr>
          <p:cNvSpPr>
            <a:spLocks noGrp="1"/>
          </p:cNvSpPr>
          <p:nvPr>
            <p:ph idx="1"/>
          </p:nvPr>
        </p:nvSpPr>
        <p:spPr>
          <a:xfrm>
            <a:off x="838200" y="155448"/>
            <a:ext cx="10515600" cy="6021515"/>
          </a:xfrm>
        </p:spPr>
        <p:txBody>
          <a:bodyPr>
            <a:normAutofit fontScale="70000" lnSpcReduction="20000"/>
          </a:bodyPr>
          <a:lstStyle/>
          <a:p>
            <a:r>
              <a:rPr lang="en-US" b="1" dirty="0"/>
              <a:t>18. What causes hissing noise in LM386 even with no input?</a:t>
            </a:r>
          </a:p>
          <a:p>
            <a:r>
              <a:rPr lang="en-US" b="1" dirty="0"/>
              <a:t>Answer:</a:t>
            </a:r>
            <a:br>
              <a:rPr lang="en-US" dirty="0"/>
            </a:br>
            <a:r>
              <a:rPr lang="en-US" dirty="0"/>
              <a:t>Loose input wires, high gain capacitor, poor grounding, or missing bypass capacitor.</a:t>
            </a:r>
          </a:p>
          <a:p>
            <a:r>
              <a:rPr lang="en-US" b="1" dirty="0"/>
              <a:t>19. Why is bass weak in some LM386 circuits?</a:t>
            </a:r>
          </a:p>
          <a:p>
            <a:r>
              <a:rPr lang="en-US" b="1" dirty="0"/>
              <a:t>Answer:</a:t>
            </a:r>
            <a:br>
              <a:rPr lang="en-US" dirty="0"/>
            </a:br>
            <a:r>
              <a:rPr lang="en-US" dirty="0"/>
              <a:t>Small input/output capacitors or poor speaker low-frequency response.</a:t>
            </a:r>
          </a:p>
          <a:p>
            <a:r>
              <a:rPr lang="en-US" b="1" dirty="0"/>
              <a:t>20. Why does the amplifier oscillate?</a:t>
            </a:r>
          </a:p>
          <a:p>
            <a:r>
              <a:rPr lang="en-US" b="1" dirty="0"/>
              <a:t>Answer:</a:t>
            </a:r>
            <a:br>
              <a:rPr lang="en-US" dirty="0"/>
            </a:br>
            <a:r>
              <a:rPr lang="en-US" dirty="0"/>
              <a:t>High gain, long input wires, poor grounding, or missing decoupling capacitors.</a:t>
            </a:r>
            <a:r>
              <a:rPr lang="en-US" b="1" dirty="0"/>
              <a:t> </a:t>
            </a:r>
          </a:p>
          <a:p>
            <a:r>
              <a:rPr lang="en-US" b="1" dirty="0"/>
              <a:t>21. Why is a 10Ω resistor and 0.05µF capacitor sometimes added at the LM386 output?</a:t>
            </a:r>
          </a:p>
          <a:p>
            <a:r>
              <a:rPr lang="en-US" b="1" dirty="0"/>
              <a:t>Answer:</a:t>
            </a:r>
            <a:br>
              <a:rPr lang="en-US" dirty="0"/>
            </a:br>
            <a:r>
              <a:rPr lang="en-US" dirty="0"/>
              <a:t>This RC network (called a Zobel network) stabilizes the LM386 output, reduces high-frequency oscillation, and improves speaker performance.</a:t>
            </a:r>
          </a:p>
          <a:p>
            <a:r>
              <a:rPr lang="en-US" b="1" dirty="0"/>
              <a:t>22. Why does the LM386 require a large electrolytic capacitor (100µF or more) at the output?</a:t>
            </a:r>
          </a:p>
          <a:p>
            <a:r>
              <a:rPr lang="en-US" b="1" dirty="0"/>
              <a:t>Answer:</a:t>
            </a:r>
            <a:br>
              <a:rPr lang="en-US" dirty="0"/>
            </a:br>
            <a:r>
              <a:rPr lang="en-US" dirty="0"/>
              <a:t>Because the LM386 is a single-supply amplifier, the output contains DC bias; the large capacitor blocks this DC and passes only the AC audio to the speaker.</a:t>
            </a:r>
          </a:p>
          <a:p>
            <a:r>
              <a:rPr lang="en-US" b="1" dirty="0"/>
              <a:t>23. What happens if the input audio signal amplitude is too high for the LM386?</a:t>
            </a:r>
          </a:p>
          <a:p>
            <a:r>
              <a:rPr lang="en-US" b="1" dirty="0"/>
              <a:t>Answer:</a:t>
            </a:r>
            <a:br>
              <a:rPr lang="en-US" dirty="0"/>
            </a:br>
            <a:r>
              <a:rPr lang="en-US" dirty="0"/>
              <a:t>An excessively strong input causes distortion and clipping even at low gain because the LM386 cannot amplify beyond its supply voltage limits.</a:t>
            </a:r>
          </a:p>
          <a:p>
            <a:endParaRPr lang="en-US" dirty="0"/>
          </a:p>
          <a:p>
            <a:endParaRPr lang="en-IN" dirty="0"/>
          </a:p>
        </p:txBody>
      </p:sp>
    </p:spTree>
    <p:extLst>
      <p:ext uri="{BB962C8B-B14F-4D97-AF65-F5344CB8AC3E}">
        <p14:creationId xmlns:p14="http://schemas.microsoft.com/office/powerpoint/2010/main" val="1066552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TotalTime>
  <Words>1673</Words>
  <Application>Microsoft Office PowerPoint</Application>
  <PresentationFormat>Widescreen</PresentationFormat>
  <Paragraphs>121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Mini Project </vt:lpstr>
      <vt:lpstr>Introduction</vt:lpstr>
      <vt:lpstr>Literature Survey</vt:lpstr>
      <vt:lpstr>Market Survey</vt:lpstr>
      <vt:lpstr>Requirement Analysis</vt:lpstr>
      <vt:lpstr>Variants with Components</vt:lpstr>
      <vt:lpstr>Block Diagram</vt:lpstr>
      <vt:lpstr>List Of Components Required</vt:lpstr>
      <vt:lpstr>Simulations</vt:lpstr>
      <vt:lpstr>PowerPoint Presentation</vt:lpstr>
      <vt:lpstr>Reflection Questions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Ujwala Patil</dc:creator>
  <cp:lastModifiedBy>karthik m terdal</cp:lastModifiedBy>
  <cp:revision>6</cp:revision>
  <dcterms:created xsi:type="dcterms:W3CDTF">2025-07-30T05:24:42Z</dcterms:created>
  <dcterms:modified xsi:type="dcterms:W3CDTF">2025-11-25T17:34:37Z</dcterms:modified>
</cp:coreProperties>
</file>