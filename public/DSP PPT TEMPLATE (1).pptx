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2"/>
  </p:sldMasterIdLst>
  <p:notesMasterIdLst>
    <p:notesMasterId r:id="rId25"/>
  </p:notesMasterIdLst>
  <p:sldIdLst>
    <p:sldId id="305" r:id="rId3"/>
    <p:sldId id="314" r:id="rId4"/>
    <p:sldId id="318" r:id="rId5"/>
    <p:sldId id="327" r:id="rId6"/>
    <p:sldId id="328" r:id="rId7"/>
    <p:sldId id="317" r:id="rId8"/>
    <p:sldId id="319" r:id="rId9"/>
    <p:sldId id="321" r:id="rId10"/>
    <p:sldId id="322" r:id="rId11"/>
    <p:sldId id="339" r:id="rId12"/>
    <p:sldId id="341" r:id="rId13"/>
    <p:sldId id="343" r:id="rId14"/>
    <p:sldId id="349" r:id="rId15"/>
    <p:sldId id="344" r:id="rId16"/>
    <p:sldId id="331" r:id="rId17"/>
    <p:sldId id="350" r:id="rId18"/>
    <p:sldId id="351" r:id="rId19"/>
    <p:sldId id="352" r:id="rId20"/>
    <p:sldId id="353" r:id="rId21"/>
    <p:sldId id="324" r:id="rId22"/>
    <p:sldId id="325" r:id="rId23"/>
    <p:sldId id="326" r:id="rId2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1FD"/>
    <a:srgbClr val="ECD2FC"/>
    <a:srgbClr val="F0D6F8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90" autoAdjust="0"/>
  </p:normalViewPr>
  <p:slideViewPr>
    <p:cSldViewPr>
      <p:cViewPr varScale="1">
        <p:scale>
          <a:sx n="80" d="100"/>
          <a:sy n="80" d="100"/>
        </p:scale>
        <p:origin x="68" y="120"/>
      </p:cViewPr>
      <p:guideLst>
        <p:guide orient="horz" pos="2175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659CB-641C-4451-827B-16C13A191CA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3278-5A15-4CA0-ADB8-2707565020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1B3278-5A15-4CA0-ADB8-270756502065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B3278-5A15-4CA0-ADB8-2707565020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7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50C3-D018-41A5-845E-8EDC11970CF4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26C3-99E2-480B-89DC-9D74B7A2492F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2ABE-8868-4099-95E1-C488A38C6A6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DF32-F10E-4C86-9634-731F8CE04F90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BA413-4499-4221-ABD5-E59C4B68647E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91727-A55A-47D3-96D5-154865C9390F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1E4-B63C-4194-850B-42E7550A1CDF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EC28-9DBA-4827-999C-8C56BBA043B3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8299-2565-4A3D-A974-B617CFCA8B4A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C3338-AF83-4715-9F3C-278937898501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5604-F212-4CDF-9E5B-B8AAD6018D20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3BA17-A0CB-493B-BCB6-BAB2064E4F71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548640"/>
            <a:ext cx="6400800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50C3-D018-41A5-845E-8EDC11970CF4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26C3-99E2-480B-89DC-9D74B7A2492F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2ABE-8868-4099-95E1-C488A38C6A6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DF32-F10E-4C86-9634-731F8CE04F90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BA413-4499-4221-ABD5-E59C4B68647E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91727-A55A-47D3-96D5-154865C9390F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1E4-B63C-4194-850B-42E7550A1CDF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EC28-9DBA-4827-999C-8C56BBA043B3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8299-2565-4A3D-A974-B617CFCA8B4A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C3338-AF83-4715-9F3C-278937898501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5604-F212-4CDF-9E5B-B8AAD6018D20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3BA17-A0CB-493B-BCB6-BAB2064E4F71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548640"/>
            <a:ext cx="6400800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A6BE9-34BA-4818-BD9B-DAC792D052CC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A6BE9-34BA-4818-BD9B-DAC792D052CC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 ECE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786332" y="1543050"/>
            <a:ext cx="3810000" cy="473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100" dirty="0">
              <a:effectLst/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0" marR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100" dirty="0">
              <a:effectLst/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0" marR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100" dirty="0">
              <a:effectLst/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461434"/>
            <a:ext cx="91440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CCE3F30D-A36B-45F2-A4E0-FC1A07657EF8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pPr>
              <a:tabLst>
                <a:tab pos="2865755" algn="ctr"/>
                <a:tab pos="5731510" algn="r"/>
              </a:tabLst>
            </a:pPr>
            <a:r>
              <a:rPr lang="en-US" sz="1200" b="1" dirty="0">
                <a:solidFill>
                  <a:srgbClr val="002060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School of  ECE</a:t>
            </a:r>
            <a:endParaRPr lang="en-US" sz="1050" dirty="0">
              <a:solidFill>
                <a:srgbClr val="002060"/>
              </a:solidFill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2514600" y="14488"/>
            <a:ext cx="4308591" cy="39684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5096" y="484281"/>
            <a:ext cx="9144000" cy="44342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0" y="66675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sz="3200" b="1" dirty="0">
                <a:solidFill>
                  <a:srgbClr val="002060"/>
                </a:solidFill>
              </a:rPr>
              <a:t>Digital Signal Processing: PBL approach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2190750"/>
            <a:ext cx="376686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2060"/>
                </a:solidFill>
              </a:rPr>
              <a:t>Course: </a:t>
            </a:r>
            <a:r>
              <a:rPr lang="en-IN" dirty="0">
                <a:solidFill>
                  <a:srgbClr val="002060"/>
                </a:solidFill>
              </a:rPr>
              <a:t>Digital Signal Processing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2060"/>
                </a:solidFill>
              </a:rPr>
              <a:t>Course Code: </a:t>
            </a:r>
            <a:r>
              <a:rPr lang="en-IN" dirty="0">
                <a:solidFill>
                  <a:srgbClr val="002060"/>
                </a:solidFill>
              </a:rPr>
              <a:t>23EECC303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2060"/>
                </a:solidFill>
              </a:rPr>
              <a:t>Semester: </a:t>
            </a:r>
            <a:r>
              <a:rPr lang="en-IN" dirty="0">
                <a:solidFill>
                  <a:srgbClr val="002060"/>
                </a:solidFill>
              </a:rPr>
              <a:t>V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2060"/>
                </a:solidFill>
              </a:rPr>
              <a:t>Credits: </a:t>
            </a:r>
            <a:r>
              <a:rPr lang="en-IN" dirty="0">
                <a:solidFill>
                  <a:srgbClr val="002060"/>
                </a:solidFill>
              </a:rPr>
              <a:t>4 [2-0-2]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2060"/>
                </a:solidFill>
              </a:rPr>
              <a:t>Hours/Week: </a:t>
            </a:r>
            <a:r>
              <a:rPr lang="en-IN" dirty="0">
                <a:solidFill>
                  <a:srgbClr val="002060"/>
                </a:solidFill>
              </a:rPr>
              <a:t>6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2060"/>
                </a:solidFill>
              </a:rPr>
              <a:t>Faculty Mentor</a:t>
            </a:r>
            <a:r>
              <a:rPr lang="en-IN" dirty="0">
                <a:solidFill>
                  <a:srgbClr val="002060"/>
                </a:solidFill>
              </a:rPr>
              <a:t>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68721"/>
              </p:ext>
            </p:extLst>
          </p:nvPr>
        </p:nvGraphicFramePr>
        <p:xfrm>
          <a:off x="4137804" y="3098635"/>
          <a:ext cx="4862423" cy="1647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080">
                <a:tc gridSpan="5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200" dirty="0"/>
                        <a:t>Team Details</a:t>
                      </a:r>
                      <a:endParaRPr lang="en-IN" sz="12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Sl.No</a:t>
                      </a:r>
                      <a:r>
                        <a:rPr lang="en-US" sz="1000" dirty="0"/>
                        <a:t>.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Roll No.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Div</a:t>
                      </a:r>
                      <a:endParaRPr lang="en-US" sz="1000" dirty="0"/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SRN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Name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415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01FE23BEC176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AARYA S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421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01FE23BEC182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ABHISHEK SHYAGAVI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460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01FE23BEC225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VISHWANATH H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477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01FE22BEC059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PRAMOD P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381000" y="1352550"/>
            <a:ext cx="84582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FontTx/>
              <a:buNone/>
              <a:defRPr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Theme:</a:t>
            </a:r>
          </a:p>
          <a:p>
            <a:pPr>
              <a:spcBef>
                <a:spcPts val="600"/>
              </a:spcBef>
              <a:buFontTx/>
              <a:buNone/>
              <a:defRPr/>
            </a:pPr>
            <a:r>
              <a:rPr lang="en-US" sz="2000" b="1" dirty="0">
                <a:solidFill>
                  <a:srgbClr val="0070C0"/>
                </a:solidFill>
              </a:rPr>
              <a:t>Title: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625302"/>
            <a:ext cx="12042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Content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381000" y="1197919"/>
            <a:ext cx="8077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Literature survey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Functional Block diagram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Data Set/Data Acquisition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Methodology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Digital IIR Filter Design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Digital FIR Filter Design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Results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References</a:t>
            </a:r>
          </a:p>
          <a:p>
            <a:endParaRPr lang="en-IN" sz="2000" dirty="0"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6075" y="625302"/>
            <a:ext cx="28052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5" name="Rectangle 4"/>
          <p:cNvSpPr/>
          <p:nvPr/>
        </p:nvSpPr>
        <p:spPr>
          <a:xfrm>
            <a:off x="463894" y="1428750"/>
            <a:ext cx="82229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GENDER DRIVEN EMOTION RECOGNITION THROUGH SPEECH SIGNALS</a:t>
            </a:r>
            <a:endParaRPr lang="en-IN" sz="2000" b="1" dirty="0"/>
          </a:p>
          <a:p>
            <a:endParaRPr lang="en-IN" sz="2000" dirty="0"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625302"/>
            <a:ext cx="17777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Introduction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463894" y="1428750"/>
            <a:ext cx="82229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000" dirty="0"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8E22A8-FB7F-BD2D-3B1C-71DC9EA29F52}"/>
              </a:ext>
            </a:extLst>
          </p:cNvPr>
          <p:cNvSpPr txBox="1"/>
          <p:nvPr/>
        </p:nvSpPr>
        <p:spPr>
          <a:xfrm>
            <a:off x="381000" y="1123950"/>
            <a:ext cx="83820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Speech is one </a:t>
            </a:r>
            <a:r>
              <a:rPr lang="en-US" dirty="0"/>
              <a:t>of the most natural forms of communication between humans and  machines.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Gender recognition through speech signals aims to identify whether the speaker is male or female based on voice characteristics.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The project uses Digital Signal Processing (DSP) techniques to analyze features such as pitch, formants, energy, and frequency spectrum.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Male and female voices differ in pitch range, vocal tract length, and frequency components, which help in accurate gender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The main goal is to develop an efficient and reliable model that identifies speaker gender using speech signal analysis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14350"/>
            <a:ext cx="23672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480116"/>
              </p:ext>
            </p:extLst>
          </p:nvPr>
        </p:nvGraphicFramePr>
        <p:xfrm>
          <a:off x="304800" y="971550"/>
          <a:ext cx="8610599" cy="517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8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70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Sl.No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Methodology/</a:t>
                      </a:r>
                    </a:p>
                    <a:p>
                      <a:pPr algn="ctr"/>
                      <a:r>
                        <a:rPr lang="en-US" sz="1600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Merits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Demerits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Gaps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Bisio, I.; Delfino, A.; </a:t>
                      </a:r>
                      <a:r>
                        <a:rPr lang="en-IN" b="0" dirty="0" err="1"/>
                        <a:t>Lavagetto</a:t>
                      </a:r>
                      <a:r>
                        <a:rPr lang="en-IN" b="0" dirty="0"/>
                        <a:t>, F.; Marchese, M.; Sciarrone, A. (2013)</a:t>
                      </a:r>
                      <a:r>
                        <a:rPr lang="en-IN" dirty="0"/>
                        <a:t> — </a:t>
                      </a:r>
                      <a:r>
                        <a:rPr lang="en-IN" i="1" dirty="0"/>
                        <a:t>“Gender-Driven Emotion Recognition Through Speech Signals for Ambient Intelligence”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extract 182 prosodic &amp; spectral features, gender detection by pitch thresholding, then SVM classifier (so </a:t>
                      </a:r>
                      <a:r>
                        <a:rPr lang="en-US" b="0" dirty="0"/>
                        <a:t>HYBRID / ML).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comprehensive feature set; shows performance gain when gender is used as prior.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SVM (ML) for final decision — not purely DSP.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gender detection + feature selection parts are pure DSP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15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K. S. Rao et al. (2013)  </a:t>
                      </a:r>
                      <a:r>
                        <a:rPr lang="en-US" i="1" dirty="0"/>
                        <a:t>“Emotion recognition from speech using global and local prosodic features”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extraction of sentence level prosodic features and analysis across hierarchical levels; evaluation.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detailed multi-level prosodic feature set you can compute with DSP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evaluation uses ML classifiers; decision rules are not the main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DSP-only decision module  you can design rule-based decision logic.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1154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“Emotion recognition from speech using wavelet packet and spectral features”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wavelet-packet spectral features; classifier evaluation (hybrid). </a:t>
                      </a:r>
                      <a:r>
                        <a:rPr lang="en-US" b="1" dirty="0"/>
                        <a:t>DSP-friendly feature extraction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lap-level spectral decomposition methods (wavelet packets) that are DSP-implementable; good feature recipes.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classifier back-end (ML).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wavelet packet coefficients &amp; energy bands can be used to craft rule thresholds for emotions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14350"/>
            <a:ext cx="23672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318867"/>
              </p:ext>
            </p:extLst>
          </p:nvPr>
        </p:nvGraphicFramePr>
        <p:xfrm>
          <a:off x="304800" y="971550"/>
          <a:ext cx="8686799" cy="4566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9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9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9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53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Sl.No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Methodology/</a:t>
                      </a:r>
                    </a:p>
                    <a:p>
                      <a:pPr algn="ctr"/>
                      <a:r>
                        <a:rPr lang="en-US" sz="1600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Merits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Demerits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Gaps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“Basic analysis on prosodic features in emotional speech” (Conference/Journal ~2012)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prosodic analysis comparing genders in emotional speech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raw DSP analysis of gender differences; explicit charts/thresholds suggested.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small dataset / language specific.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generalized to rule thresholds and tested across languages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046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“The role of voice quality and prosodic contour in affective speech”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perceptual and acoustic analysis focusing on voice quality and prosodic contour.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focus on voice-quality descriptors) and contour — directly implementable via DSP.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 recognition system per se; more an analysis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specific acoustic correlates you can turn into deterministic rules after thresholding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16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9781" y="568413"/>
            <a:ext cx="34240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Functional Block Diagram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5A725A-F1A6-A2F6-953C-753839653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39972"/>
            <a:ext cx="8915400" cy="14384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401" y="568413"/>
            <a:ext cx="3617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Data Sets/Data Acquisition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800" y="1460148"/>
            <a:ext cx="3145220" cy="21544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altLang="en-US" sz="2000" dirty="0"/>
              <a:t> Signal length: 3.3033s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sz="2000" dirty="0"/>
              <a:t> Amplitude range:--1to1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sz="2000" dirty="0"/>
              <a:t> Sampling frequency:48KHz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sz="2000" dirty="0"/>
              <a:t> Frequency range:0-24KHz</a:t>
            </a:r>
          </a:p>
          <a:p>
            <a:pPr algn="ctr"/>
            <a:endParaRPr lang="en-IN" altLang="en-US" dirty="0"/>
          </a:p>
          <a:p>
            <a:pPr algn="ctr"/>
            <a:endParaRPr lang="en-IN" altLang="en-US" dirty="0"/>
          </a:p>
          <a:p>
            <a:pPr algn="ctr">
              <a:buNone/>
            </a:pPr>
            <a:endParaRPr lang="en-IN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F983D14-9192-997D-44B6-D6C910C79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3.3033 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4DDB76E-E652-600E-7369-7825F88F8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3.3033 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D1B1FA4-DA2A-2586-6408-A557C7996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3.3033 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13FC76-65BE-45BD-7CBB-230DF3298F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2088" y="1030078"/>
            <a:ext cx="4817111" cy="31369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197" y="575816"/>
            <a:ext cx="190738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Methodology</a:t>
            </a:r>
          </a:p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37481"/>
            <a:ext cx="76962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Sampling and framing </a:t>
            </a:r>
            <a:r>
              <a:rPr lang="en-US" sz="2000" dirty="0"/>
              <a:t>: Audio is sampled at 16 </a:t>
            </a:r>
            <a:r>
              <a:rPr lang="en-US" sz="2000" dirty="0" err="1"/>
              <a:t>khz</a:t>
            </a:r>
            <a:r>
              <a:rPr lang="en-US" sz="2000" dirty="0"/>
              <a:t> and divided into short , stationary frames of 20-40ms</a:t>
            </a:r>
          </a:p>
          <a:p>
            <a:br>
              <a:rPr lang="en-US" sz="2000" dirty="0"/>
            </a:br>
            <a:r>
              <a:rPr lang="en-US" sz="2000" b="1" dirty="0"/>
              <a:t>Pitch estimation </a:t>
            </a:r>
            <a:r>
              <a:rPr lang="en-US" sz="2000" dirty="0"/>
              <a:t>: Using autocorrelation to detect the fundamental frequency of speech for gender classification</a:t>
            </a:r>
          </a:p>
          <a:p>
            <a:br>
              <a:rPr lang="en-US" sz="2000" dirty="0"/>
            </a:br>
            <a:r>
              <a:rPr lang="en-US" sz="2000" b="1" dirty="0"/>
              <a:t>PDF computation </a:t>
            </a:r>
            <a:r>
              <a:rPr lang="en-US" sz="2000" dirty="0"/>
              <a:t>: Probability density function of pitch values is used to distinguish between male and female voices</a:t>
            </a:r>
          </a:p>
          <a:p>
            <a:br>
              <a:rPr lang="en-US" sz="2000" dirty="0"/>
            </a:br>
            <a:r>
              <a:rPr lang="en-US" sz="2000" b="1" dirty="0"/>
              <a:t>Classification</a:t>
            </a:r>
            <a:r>
              <a:rPr lang="en-US" sz="2000" dirty="0"/>
              <a:t> : Using support vector machine to classify emotions based on extracted feature.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027" y="575816"/>
            <a:ext cx="353949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Discrete Fourier Transform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65530"/>
            <a:ext cx="26073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Time domain sequence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" y="3409950"/>
            <a:ext cx="3911600" cy="123380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altLang="en-US" dirty="0"/>
              <a:t> Number of samples:80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dirty="0"/>
              <a:t> Number of frequency coefficients (N):100Hz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dirty="0"/>
              <a:t> Computation time:0.02s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dirty="0"/>
              <a:t> Execution time:0.03-0.04s</a:t>
            </a:r>
          </a:p>
          <a:p>
            <a:pPr algn="ctr"/>
            <a:endParaRPr lang="en-IN" altLang="en-US" dirty="0"/>
          </a:p>
          <a:p>
            <a:pPr algn="ctr"/>
            <a:endParaRPr lang="en-IN" altLang="en-US" dirty="0"/>
          </a:p>
          <a:p>
            <a:pPr algn="ctr">
              <a:buNone/>
            </a:pPr>
            <a:endParaRPr lang="en-IN" altLang="en-US" dirty="0"/>
          </a:p>
        </p:txBody>
      </p:sp>
      <p:sp>
        <p:nvSpPr>
          <p:cNvPr id="10" name="Rectangle 4"/>
          <p:cNvSpPr/>
          <p:nvPr/>
        </p:nvSpPr>
        <p:spPr>
          <a:xfrm>
            <a:off x="5890895" y="1040130"/>
            <a:ext cx="29394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8CA193-4F60-FB7A-B944-783CE78F8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770" y="612529"/>
            <a:ext cx="4644030" cy="25072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69F41AA-E1FC-A0C3-9558-91F71C2974A7}"/>
              </a:ext>
            </a:extLst>
          </p:cNvPr>
          <p:cNvSpPr txBox="1"/>
          <p:nvPr/>
        </p:nvSpPr>
        <p:spPr>
          <a:xfrm>
            <a:off x="381000" y="148601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cs typeface="Times New Roman" panose="02020603050405020304" pitchFamily="18" charset="0"/>
              </a:rPr>
              <a:t>Frequency Spectrum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1510" y="584239"/>
            <a:ext cx="3016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Fast Fourier Transform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65530"/>
            <a:ext cx="26073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Time domain sequence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" y="3409950"/>
            <a:ext cx="3911600" cy="123380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altLang="en-US" dirty="0"/>
              <a:t> Number of samples:81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dirty="0"/>
              <a:t> Number of frequency coefficients (N):81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dirty="0"/>
              <a:t> Computation time:0.0000768s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dirty="0"/>
              <a:t> Execution time:0.02-0.03s</a:t>
            </a:r>
          </a:p>
          <a:p>
            <a:pPr algn="ctr"/>
            <a:endParaRPr lang="en-IN" altLang="en-US" dirty="0"/>
          </a:p>
          <a:p>
            <a:pPr algn="ctr"/>
            <a:endParaRPr lang="en-IN" altLang="en-US" dirty="0"/>
          </a:p>
          <a:p>
            <a:pPr algn="ctr">
              <a:buNone/>
            </a:pPr>
            <a:endParaRPr lang="en-I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3CDADC-F9FE-D418-4D3F-8EAEF7BC6625}"/>
              </a:ext>
            </a:extLst>
          </p:cNvPr>
          <p:cNvSpPr txBox="1"/>
          <p:nvPr/>
        </p:nvSpPr>
        <p:spPr>
          <a:xfrm>
            <a:off x="381000" y="144876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cs typeface="Times New Roman" panose="02020603050405020304" pitchFamily="18" charset="0"/>
              </a:rPr>
              <a:t>Frequency Spectrum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80292B-50A9-1D2D-EEDB-39721A0FA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760" y="503060"/>
            <a:ext cx="5638800" cy="27160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658" y="590421"/>
            <a:ext cx="270954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Digital Filter Design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7520" y="2641600"/>
            <a:ext cx="2536825" cy="1599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altLang="en-US" dirty="0"/>
              <a:t> </a:t>
            </a:r>
            <a:r>
              <a:rPr lang="en-IN" altLang="en-US" sz="1600" dirty="0"/>
              <a:t>Pass band edge frequency: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sz="1600" dirty="0"/>
              <a:t> Stop band edge frequency: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sz="1600" dirty="0"/>
              <a:t> Pass band ripple: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sz="1600" dirty="0"/>
              <a:t> Stop band ripple: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sz="1600" dirty="0"/>
              <a:t> Order of the filter: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altLang="en-US" sz="1600" dirty="0"/>
              <a:t> Sampling frequency:</a:t>
            </a:r>
            <a:endParaRPr lang="en-IN" altLang="en-US" dirty="0"/>
          </a:p>
        </p:txBody>
      </p:sp>
      <p:sp>
        <p:nvSpPr>
          <p:cNvPr id="6" name="Rectangle 4"/>
          <p:cNvSpPr/>
          <p:nvPr/>
        </p:nvSpPr>
        <p:spPr>
          <a:xfrm>
            <a:off x="460547" y="1200150"/>
            <a:ext cx="8222906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Justifications for arriving to the below specifications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141" y="575816"/>
            <a:ext cx="47498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Digital IIR Butterworth Filter Design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7694" y="1428750"/>
            <a:ext cx="8222906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Frequency Response of the filter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376" y="575816"/>
            <a:ext cx="454533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Digital IIR Chebyshev Filter Design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7694" y="1428750"/>
            <a:ext cx="8222906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Frequency Response of the filter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1733" y="575816"/>
            <a:ext cx="319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Digital FIR Filter Design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  <p:sp>
        <p:nvSpPr>
          <p:cNvPr id="6" name="Rectangle 4"/>
          <p:cNvSpPr/>
          <p:nvPr/>
        </p:nvSpPr>
        <p:spPr>
          <a:xfrm>
            <a:off x="381000" y="2266950"/>
            <a:ext cx="23552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Rectangular window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/>
          <p:nvPr/>
        </p:nvSpPr>
        <p:spPr>
          <a:xfrm>
            <a:off x="5456555" y="226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Response of the filter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/>
          <p:nvPr/>
        </p:nvSpPr>
        <p:spPr>
          <a:xfrm>
            <a:off x="381000" y="1037590"/>
            <a:ext cx="156908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Input Signal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4"/>
          <p:cNvSpPr/>
          <p:nvPr/>
        </p:nvSpPr>
        <p:spPr>
          <a:xfrm>
            <a:off x="5537200" y="353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Spectrum of Output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4"/>
          <p:cNvSpPr/>
          <p:nvPr/>
        </p:nvSpPr>
        <p:spPr>
          <a:xfrm>
            <a:off x="381000" y="3486150"/>
            <a:ext cx="20129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Output Signal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4"/>
          <p:cNvSpPr/>
          <p:nvPr/>
        </p:nvSpPr>
        <p:spPr>
          <a:xfrm>
            <a:off x="5588000" y="99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Spectrum of Input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1733" y="575816"/>
            <a:ext cx="319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Digital FIR Filter Design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  <p:sp>
        <p:nvSpPr>
          <p:cNvPr id="6" name="Rectangle 4"/>
          <p:cNvSpPr/>
          <p:nvPr/>
        </p:nvSpPr>
        <p:spPr>
          <a:xfrm>
            <a:off x="381000" y="2266950"/>
            <a:ext cx="23552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Bartlett window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/>
          <p:nvPr/>
        </p:nvSpPr>
        <p:spPr>
          <a:xfrm>
            <a:off x="5456555" y="226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Response of the filter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/>
          <p:nvPr/>
        </p:nvSpPr>
        <p:spPr>
          <a:xfrm>
            <a:off x="381000" y="1037590"/>
            <a:ext cx="156908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Input Signal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4"/>
          <p:cNvSpPr/>
          <p:nvPr/>
        </p:nvSpPr>
        <p:spPr>
          <a:xfrm>
            <a:off x="5537200" y="353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Spectrum of Output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4"/>
          <p:cNvSpPr/>
          <p:nvPr/>
        </p:nvSpPr>
        <p:spPr>
          <a:xfrm>
            <a:off x="381000" y="3486150"/>
            <a:ext cx="20129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Output Signal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4"/>
          <p:cNvSpPr/>
          <p:nvPr/>
        </p:nvSpPr>
        <p:spPr>
          <a:xfrm>
            <a:off x="5588000" y="99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Spectrum of Input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1733" y="575816"/>
            <a:ext cx="319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Digital FIR Filter Design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  <p:sp>
        <p:nvSpPr>
          <p:cNvPr id="6" name="Rectangle 4"/>
          <p:cNvSpPr/>
          <p:nvPr/>
        </p:nvSpPr>
        <p:spPr>
          <a:xfrm>
            <a:off x="381000" y="2266950"/>
            <a:ext cx="23552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Hanning window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/>
          <p:nvPr/>
        </p:nvSpPr>
        <p:spPr>
          <a:xfrm>
            <a:off x="5456555" y="226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Response of the filter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/>
          <p:nvPr/>
        </p:nvSpPr>
        <p:spPr>
          <a:xfrm>
            <a:off x="381000" y="1037590"/>
            <a:ext cx="156908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Input Signal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4"/>
          <p:cNvSpPr/>
          <p:nvPr/>
        </p:nvSpPr>
        <p:spPr>
          <a:xfrm>
            <a:off x="5537200" y="353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Spectrum of Output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4"/>
          <p:cNvSpPr/>
          <p:nvPr/>
        </p:nvSpPr>
        <p:spPr>
          <a:xfrm>
            <a:off x="381000" y="3486150"/>
            <a:ext cx="20129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Output Signal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4"/>
          <p:cNvSpPr/>
          <p:nvPr/>
        </p:nvSpPr>
        <p:spPr>
          <a:xfrm>
            <a:off x="5588000" y="99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Spectrum of Input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1733" y="575816"/>
            <a:ext cx="319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Digital FIR Filter Design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  <p:sp>
        <p:nvSpPr>
          <p:cNvPr id="6" name="Rectangle 4"/>
          <p:cNvSpPr/>
          <p:nvPr/>
        </p:nvSpPr>
        <p:spPr>
          <a:xfrm>
            <a:off x="381000" y="2266950"/>
            <a:ext cx="23552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Hamming window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/>
          <p:nvPr/>
        </p:nvSpPr>
        <p:spPr>
          <a:xfrm>
            <a:off x="5456555" y="226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Response of the filter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/>
          <p:nvPr/>
        </p:nvSpPr>
        <p:spPr>
          <a:xfrm>
            <a:off x="381000" y="1037590"/>
            <a:ext cx="156908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Input Signal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4"/>
          <p:cNvSpPr/>
          <p:nvPr/>
        </p:nvSpPr>
        <p:spPr>
          <a:xfrm>
            <a:off x="5537200" y="353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Spectrum of Output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4"/>
          <p:cNvSpPr/>
          <p:nvPr/>
        </p:nvSpPr>
        <p:spPr>
          <a:xfrm>
            <a:off x="381000" y="3486150"/>
            <a:ext cx="20129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Output Signal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4"/>
          <p:cNvSpPr/>
          <p:nvPr/>
        </p:nvSpPr>
        <p:spPr>
          <a:xfrm>
            <a:off x="5588000" y="99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Spectrum of Input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1733" y="575816"/>
            <a:ext cx="319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Digital FIR Filter Design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  <p:sp>
        <p:nvSpPr>
          <p:cNvPr id="6" name="Rectangle 4"/>
          <p:cNvSpPr/>
          <p:nvPr/>
        </p:nvSpPr>
        <p:spPr>
          <a:xfrm>
            <a:off x="381000" y="2266950"/>
            <a:ext cx="23552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Blackmann window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/>
          <p:nvPr/>
        </p:nvSpPr>
        <p:spPr>
          <a:xfrm>
            <a:off x="5456555" y="226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Response of the filter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/>
          <p:nvPr/>
        </p:nvSpPr>
        <p:spPr>
          <a:xfrm>
            <a:off x="381000" y="1037590"/>
            <a:ext cx="156908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Input Signal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4"/>
          <p:cNvSpPr/>
          <p:nvPr/>
        </p:nvSpPr>
        <p:spPr>
          <a:xfrm>
            <a:off x="5537200" y="353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Spectrum of Output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4"/>
          <p:cNvSpPr/>
          <p:nvPr/>
        </p:nvSpPr>
        <p:spPr>
          <a:xfrm>
            <a:off x="381000" y="3486150"/>
            <a:ext cx="20129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Output Signal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4"/>
          <p:cNvSpPr/>
          <p:nvPr/>
        </p:nvSpPr>
        <p:spPr>
          <a:xfrm>
            <a:off x="5588000" y="996950"/>
            <a:ext cx="35763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  <a:sym typeface="+mn-ea"/>
              </a:rPr>
              <a:t>Frequency Spectrum of Input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4361" y="568413"/>
            <a:ext cx="108966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3894" y="1428750"/>
            <a:ext cx="82229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Content  Font Size-20 (Calibri (Body))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4873068"/>
            <a:ext cx="2057400" cy="273844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569346"/>
            <a:ext cx="15877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3894" y="1428750"/>
            <a:ext cx="82229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Content  Font Size-16 (Calibri (Body))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3894" y="2121627"/>
            <a:ext cx="814670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600" dirty="0">
                <a:cs typeface="Times New Roman" panose="02020603050405020304" pitchFamily="18" charset="0"/>
              </a:rPr>
              <a:t>Example:</a:t>
            </a:r>
          </a:p>
          <a:p>
            <a:pPr algn="just"/>
            <a:endParaRPr lang="en-IN" sz="1600" dirty="0">
              <a:cs typeface="Times New Roman" panose="02020603050405020304" pitchFamily="18" charset="0"/>
            </a:endParaRPr>
          </a:p>
          <a:p>
            <a:pPr algn="just"/>
            <a:r>
              <a:rPr lang="en-IN" sz="1600" dirty="0">
                <a:cs typeface="Times New Roman" panose="02020603050405020304" pitchFamily="18" charset="0"/>
              </a:rPr>
              <a:t>[1] M. T. </a:t>
            </a:r>
            <a:r>
              <a:rPr lang="en-IN" sz="1600" dirty="0" err="1">
                <a:cs typeface="Times New Roman" panose="02020603050405020304" pitchFamily="18" charset="0"/>
              </a:rPr>
              <a:t>Kimour</a:t>
            </a:r>
            <a:r>
              <a:rPr lang="en-IN" sz="1600" dirty="0">
                <a:cs typeface="Times New Roman" panose="02020603050405020304" pitchFamily="18" charset="0"/>
              </a:rPr>
              <a:t> and D. </a:t>
            </a:r>
            <a:r>
              <a:rPr lang="en-IN" sz="1600" dirty="0" err="1">
                <a:cs typeface="Times New Roman" panose="02020603050405020304" pitchFamily="18" charset="0"/>
              </a:rPr>
              <a:t>Meslati</a:t>
            </a:r>
            <a:r>
              <a:rPr lang="en-IN" sz="1600" dirty="0">
                <a:cs typeface="Times New Roman" panose="02020603050405020304" pitchFamily="18" charset="0"/>
              </a:rPr>
              <a:t>, “Deriving objects from use cases in real-time embedded systems,” Information and Software Technology, vol. 47, p. 533-545, June 2005.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463894" y="172837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Minimum 8 references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83463"/>
            <a:ext cx="495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Title: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304800" y="475598"/>
            <a:ext cx="8534400" cy="0"/>
          </a:xfrm>
          <a:prstGeom prst="line">
            <a:avLst/>
          </a:prstGeom>
          <a:ln w="38100" cmpd="thickThin">
            <a:gradFill flip="none" rotWithShape="1">
              <a:gsLst>
                <a:gs pos="73000">
                  <a:srgbClr val="0070C0"/>
                </a:gs>
                <a:gs pos="100000">
                  <a:srgbClr val="FF0000"/>
                </a:gs>
                <a:gs pos="48000">
                  <a:srgbClr val="002060"/>
                </a:gs>
                <a:gs pos="25000">
                  <a:srgbClr val="0070C0"/>
                </a:gs>
                <a:gs pos="0">
                  <a:srgbClr val="FF0000"/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rgbClr val="FF000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4892278"/>
            <a:ext cx="2514600" cy="273844"/>
          </a:xfrm>
        </p:spPr>
        <p:txBody>
          <a:bodyPr/>
          <a:lstStyle/>
          <a:p>
            <a:pPr algn="ctr"/>
            <a:fld id="{91C7D7C1-D72D-4E9B-AACB-CCB6EC89ED36}" type="datetime1">
              <a:rPr lang="en-US" sz="1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11/17/2025</a:t>
            </a:fld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39069" y="4892278"/>
            <a:ext cx="3352801" cy="273844"/>
          </a:xfrm>
        </p:spPr>
        <p:txBody>
          <a:bodyPr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ECE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18483" r="2922" b="16827"/>
          <a:stretch>
            <a:fillRect/>
          </a:stretch>
        </p:blipFill>
        <p:spPr>
          <a:xfrm>
            <a:off x="5943600" y="71237"/>
            <a:ext cx="2895600" cy="3515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711059" y="2433251"/>
            <a:ext cx="17218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dirty="0">
                <a:cs typeface="Times New Roman" panose="02020603050405020304" pitchFamily="18" charset="0"/>
              </a:rPr>
              <a:t>Thank You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3034</TotalTime>
  <Words>1148</Words>
  <Application>Microsoft Office PowerPoint</Application>
  <PresentationFormat>On-screen Show (16:9)</PresentationFormat>
  <Paragraphs>277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Menlo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Nagratna Cholin</cp:lastModifiedBy>
  <cp:revision>125</cp:revision>
  <dcterms:created xsi:type="dcterms:W3CDTF">2006-08-16T00:00:00Z</dcterms:created>
  <dcterms:modified xsi:type="dcterms:W3CDTF">2025-11-17T05:59:36Z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36037FEFC1474B96BFA8A6DF57F84015_13</vt:lpwstr>
  </property>
  <property fmtid="{D5CDD505-2E9C-101B-9397-08002B2CF9AE}" pid="3" name="KSOProductBuildVer">
    <vt:lpwstr>1033-12.2.0.13359</vt:lpwstr>
  </property>
</Properties>
</file>